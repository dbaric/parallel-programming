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</p:sldIdLst>
  <p:sldSz cx="12192000" cy="6858000"/>
  <p:notesSz cx="6858000" cy="9144000"/>
  <p:defaultTextStyle>
    <a:defPPr>
      <a:defRPr lang="sr-Latn-R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36" Type="http://schemas.openxmlformats.org/officeDocument/2006/relationships/presProps" Target="presProps.xml"/><Relationship Id="rId37" Type="http://schemas.openxmlformats.org/officeDocument/2006/relationships/viewProps" Target="viewProps.xml"/><Relationship Id="rId38" Type="http://schemas.openxmlformats.org/officeDocument/2006/relationships/theme" Target="theme/theme1.xml"/><Relationship Id="rId39" Type="http://schemas.openxmlformats.org/officeDocument/2006/relationships/tableStyles" Target="tableStyles.xml"/><Relationship Id="rId42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Vježba 2, tjedan 2. Zadatak 1 (Paralelno) i zamka D (Entitet) preuzeti su iz vježbe 2 iz 2020/21 (PP_20-21/Vj02); zadaci 2 i 3 (A–C) su bivši zadaci 6 i 7 vježbe 1. Stari zadaci s CancellationTokenom (Periodicno) idu u vježbu 5. Upute: Vjezba2_upute.html. Prikazi: Vizualizacije/zamke.html, Tjedan 01 - Uvod/Vizualizacije/amdahl.html.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Svaki zadatak je zaseban projekt u istom rješenju (od 12. 10. 2026.; kao 2025/26). README.md ima korake, a .vscode konfiguracije za svaki zadatak (Debug i Release). Provjeriti da u učionici postoji .NET 10 SDK; ako ne, koristiti net8.0.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Microsoft [5]: niti iz fonda se nakon posla vraćaju u red i ponovno koriste, »This reuse enables applications to avoid the cost of creating a new thread for each task«; TPL tipovi Task i Task&lt;TResult&gt; po zadanom koriste niti iz fonda. Vlastitu nit ima smisla stvoriti npr. za posao koji dugo blokira. [6]: Task.Run je preporučeni način stvaranja i pokretanja taska; Task.Factory.StartNew i new Task(...).Start() postoje, ali ih na kolegiju ne koristimo. Preuzeto sa slajdova 5–8 vježbe 2 iz 2020/21.</a:t>
            </a:r>
          </a:p>
          <a:p/>
          <a:p>
            <a:r>
              <a:t>Interaktivno: Tjedan 01 - Uvod/Vizualizacije/paralelizam.html, odjeljak 1 (više niti nego jezgri, fond niti).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Task&lt;T&gt; za posao koji vraća vrijednost, Task (bez T) za posao bez rezultata.</a:t>
            </a:r>
          </a:p>
          <a:p/>
          <a:p>
            <a:r>
              <a:t>Interaktivno: Tjedan 01 - Uvod/Vizualizacije/paralelizam.html, odjeljak 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WaitAll i Result se koriste u sva tri zadatka.</a:t>
            </a:r>
          </a:p>
          <a:p/>
          <a:p>
            <a:r>
              <a:t>Interaktivno: Vizualizacije/tjedan2.html, odjeljak 3 (sinkronizacija: B čeka rezultat A).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Interaktivno: Vizualizacije/zamke.html, odjeljak 4 (izgubljeni ostatak).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Visual Studio: Release, Ctrl+F5. Rider: konfiguracija Release u gornjoj traci. VS Code: pokrenuti konfiguraciju »Release«.</a:t>
            </a:r>
          </a:p>
          <a:p/>
          <a:p>
            <a:r>
              <a:t>Interaktivno: Vizualizacije/tjedan2.html, odjeljak 8.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Izmjereno: rješenje zadatka 2 (Release, i7-9750H, 6 jezgri / 12 logičkih, 5. 10. 2026.). Interaktivno: Tjedan 01 - Uvod/Vizualizacije/amdahl.html; Vizualizacije/zamke.html, odjeljak 2 (granularnost); Vizualizacije/tjedan2.html, odjeljak 8 (izmjereno i idealno ubrzanje).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Parallel.For je funkcija višeg reda (prima delegat). Vidjeli smo isto kod Task.Run.</a:t>
            </a:r>
          </a:p>
          <a:p/>
          <a:p>
            <a:r>
              <a:t>Interaktivno: Vizualizacije/zamke.html, odjeljak 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Samo objasniti pojavu. Mehanizmi zaštite (lock, atomske operacije, semafori) tek na predavanju o data raceu (tjedan 4); do tada popravak je izbjegavanje dijeljenja.</a:t>
            </a:r>
          </a:p>
          <a:p/>
          <a:p>
            <a:r>
              <a:t>Interaktivno: Vizualizacije/tjedan2.html, odjeljak 6 (korak po korak); Vizualizacije/zamke.html, odjeljak 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Namjerno drugi problem (parni brojevi) da se ne daje gotovo rješenje zadataka. Sum() je LINQ metoda (using System.Linq; u projektu je uključena implicitno).</a:t>
            </a:r>
          </a:p>
          <a:p/>
          <a:p>
            <a:r>
              <a:t>Interaktivno: Vizualizacije/zamke.html, odjeljak 3 (rješenje); Vizualizacije/tjedan2.html, odjeljak 5 (izolacija).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Zadatak 1. Isti opis u Vjezba2_upute.html. Ispis je iz rješenja (Release, i7-9750H, 5. 10. 2026.); vremena ovise o računalu. Paralelizam zadataka: dvije različite operacije, za razliku od zadatka 2 (paralelizam podataka). Metoda se ne smije zvati Parallel (klasa iz System.Threading.Tasks).</a:t>
            </a:r>
          </a:p>
          <a:p/>
          <a:p>
            <a:r>
              <a:t>Interaktivno: Tjedan 01 - Uvod/Vizualizacije/paralelizam.html, odjeljak 3 (podaci ili zadaci).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Zadatak 2. Isti opis u Vjezba2_upute.html. Ispis je iz rješenja (Release, i7-9750H, 5. 10. 2026.); vremena ovise o računalu.</a:t>
            </a:r>
          </a:p>
          <a:p/>
          <a:p>
            <a:r>
              <a:t>Interaktivno: Vizualizacije/zamke.html, odjeljci 2 i 4; Vizualizacije/tjedan2.html, odjeljak 8.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Zadatak 3. Isti opis u Vjezba2_upute.html. Ispis je iz rješenja (Release, i7-9750H, 5. 10. 2026.); vremena ovise o računalu. Zamka D (Entitet, PP_20-21/Vj02): prva greška je closure (svi Id = 20), druga je redoslijed ispisa iz taskova, a vidi se tek nakon popravka prve. Greška s new Random() u petlji iz 2020/21 na .NET-u 10 se ne pojavljuje: od .NET Corea zadano sjeme ne dolazi iz sata [7].</a:t>
            </a:r>
          </a:p>
          <a:p/>
          <a:p>
            <a:r>
              <a:t>Interaktivno: Vizualizacije/zamke.html, odjeljci 1 i 3; Vizualizacije/tjedan2.html, odjeljak 6. Zamka D (redoslijed) zasad nema prikaz.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Izvadak iz jednog pokretanja rješenja (Release, i7-9750H, 5. 10. 2026.); puni ispis je u Vjezba2_upute.html. U četiri pokretanja: B 10,06 do 10,24 milijuna, C 86 000 do 161 000. B je bez popravka oko 7 puta sporiji jer oba taska stalno pišu u istu memorijsku lokaciju; detaljnije na predavanju o data raceu (tjedan 4).</a:t>
            </a:r>
          </a:p>
          <a:p/>
          <a:p>
            <a:r>
              <a:t>Interaktivno: Vizualizacije/zamke.html, odjeljci 1 i 3; Vizualizacije/tjedan2.html, odjeljak 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Interaktivno: Vizualizacije/zamke.html, odjeljak 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0937A1-8BDF-464D-E0C9-37DE2473F9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hr-HR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A5253BA-EBD5-10B8-ACB3-CC013005A3E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hr-H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7B631E-2C88-7FD7-B085-D2811AD310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B8299A-E7E1-435C-8F6D-352ABDC08D0B}" type="datetimeFigureOut">
              <a:rPr lang="hr-HR" smtClean="0"/>
              <a:t>6.10.2025.</a:t>
            </a:fld>
            <a:endParaRPr lang="hr-H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1CCCC9-0B19-0351-DBC6-33A8F341E1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54ABD5-4453-BC9C-BD96-4B3085783E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C73F3F-A071-4478-B919-9E3FEBFC2858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39507524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46E6FF-59BE-21D3-1600-63FBCB68C1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hr-H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BC583F-AC47-1036-7A57-668ECD3775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r-H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7A6299-E705-B57D-D302-7CA95850FD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B8299A-E7E1-435C-8F6D-352ABDC08D0B}" type="datetimeFigureOut">
              <a:rPr lang="hr-HR" smtClean="0"/>
              <a:t>6.10.2025.</a:t>
            </a:fld>
            <a:endParaRPr lang="hr-H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83B461-6502-2BB5-991F-3303C19F60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530613-8424-6562-D3B6-65935B19E2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C73F3F-A071-4478-B919-9E3FEBFC2858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31642217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571F12-418B-4BC1-8367-8B0831B2E5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hr-H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0F082C1-EBB5-4A15-E845-B0514AEDBC3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B4D525-30CC-F929-0321-32AF60A49A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B8299A-E7E1-435C-8F6D-352ABDC08D0B}" type="datetimeFigureOut">
              <a:rPr lang="hr-HR" smtClean="0"/>
              <a:t>6.10.2025.</a:t>
            </a:fld>
            <a:endParaRPr lang="hr-H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49422D-FE9E-3BA3-18F0-855197380A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8F66F1-822E-F261-9298-1067ECCE86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C73F3F-A071-4478-B919-9E3FEBFC2858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18676714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51F9AB-9028-BC70-F902-7B08528254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hr-H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4582AE-3B1F-1FB7-1E12-D9927C4A3E2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r-HR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E0C022B-E315-0FBA-5635-7E2685AB1AD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r-HR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307557C-CFB9-6286-41A3-D3062CD274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B8299A-E7E1-435C-8F6D-352ABDC08D0B}" type="datetimeFigureOut">
              <a:rPr lang="hr-HR" smtClean="0"/>
              <a:t>6.10.2025.</a:t>
            </a:fld>
            <a:endParaRPr lang="hr-H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AAFC8F5-BEEB-A5CF-1D30-DA94E536B9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EC884AC-CFF0-1475-D021-3FEB58694A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C73F3F-A071-4478-B919-9E3FEBFC2858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16848498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BA1869-432A-6BD4-881C-E8FB6AB025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hr-H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08F81D8-01C0-D6D1-570A-2A52C819F4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307E58D-F572-8394-0E65-4D12ABD7CF2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r-HR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6B56DDD-83A6-D51C-5AFB-E3E86FD33E3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96D9192-09E5-30B0-A24B-CA4CB67C682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r-HR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A641EC6-74AE-09FC-3EC8-BB68421C32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B8299A-E7E1-435C-8F6D-352ABDC08D0B}" type="datetimeFigureOut">
              <a:rPr lang="hr-HR" smtClean="0"/>
              <a:t>6.10.2025.</a:t>
            </a:fld>
            <a:endParaRPr lang="hr-HR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C857A97-64C2-C9B6-E837-A7E089F033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60365B0-C920-6E14-A1F6-A7D7532563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C73F3F-A071-4478-B919-9E3FEBFC2858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3394406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5FB48D-0BBE-48DD-F9E3-52086CBC69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hr-HR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0C8D7CD-3366-523B-9475-472F63D6A4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B8299A-E7E1-435C-8F6D-352ABDC08D0B}" type="datetimeFigureOut">
              <a:rPr lang="hr-HR" smtClean="0"/>
              <a:t>6.10.2025.</a:t>
            </a:fld>
            <a:endParaRPr lang="hr-HR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FE4A84B-16F3-FC98-5044-965C74C561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DAD29FA-5293-14ED-2C46-B9563074CF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C73F3F-A071-4478-B919-9E3FEBFC2858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5034766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DA6D936-9A44-9913-5DBA-215F29210C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B8299A-E7E1-435C-8F6D-352ABDC08D0B}" type="datetimeFigureOut">
              <a:rPr lang="hr-HR" smtClean="0"/>
              <a:t>6.10.2025.</a:t>
            </a:fld>
            <a:endParaRPr lang="hr-HR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A14FD84-BD3E-F48D-F818-F93F7E55DC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2654E99-2735-5A88-16A4-412EFB778C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C73F3F-A071-4478-B919-9E3FEBFC2858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31242194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AE8014-DA8B-0402-1029-634B5DA06B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hr-H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0C6AF1-00B5-DF81-F77D-49D7358162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r-H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E7D857E-5D27-ADEC-A40C-F047EAC3DBE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812D3F0-7291-180B-A979-7E2004FA6E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B8299A-E7E1-435C-8F6D-352ABDC08D0B}" type="datetimeFigureOut">
              <a:rPr lang="hr-HR" smtClean="0"/>
              <a:t>6.10.2025.</a:t>
            </a:fld>
            <a:endParaRPr lang="hr-H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36F2F26-5700-5A33-5B40-A59E1E807E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24157E4-3E1F-840C-70F5-DDE8654A8C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C73F3F-A071-4478-B919-9E3FEBFC2858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26853357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4B2531-110C-2774-61D5-4B629B9CCD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hr-HR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B721B68-FED2-9E0F-4ED2-9B93A345064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hr-H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5097D0F-0672-E87B-7B18-E54D212582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90D9CFD-8D51-72C2-0B91-AA6C9341B5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B8299A-E7E1-435C-8F6D-352ABDC08D0B}" type="datetimeFigureOut">
              <a:rPr lang="hr-HR" smtClean="0"/>
              <a:t>6.10.2025.</a:t>
            </a:fld>
            <a:endParaRPr lang="hr-H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E1152A-76D9-2ED1-FA3B-946A62C40A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B7284DA-710E-81AD-6675-8FF8A451D6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C73F3F-A071-4478-B919-9E3FEBFC2858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30029283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51662B-9E08-02AE-6400-54FB9FB3C6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hr-H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A8055C1-B116-862D-724C-E4602BF9D46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r-H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1C1BBF-F75F-B87D-6366-CA55AC3739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B8299A-E7E1-435C-8F6D-352ABDC08D0B}" type="datetimeFigureOut">
              <a:rPr lang="hr-HR" smtClean="0"/>
              <a:t>6.10.2025.</a:t>
            </a:fld>
            <a:endParaRPr lang="hr-H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E2A51B-EC39-8691-0632-7FA677564C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1D296A-B25A-FB13-329B-9E08F5C868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C73F3F-A071-4478-B919-9E3FEBFC2858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42427549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4D123DF-6D84-7460-3E71-B4CFDAA241B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hr-H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9A6B03E-6396-9751-84C9-E9E35845155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r-H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4438C4-D817-2BDC-5D20-EA8FE7D813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B8299A-E7E1-435C-8F6D-352ABDC08D0B}" type="datetimeFigureOut">
              <a:rPr lang="hr-HR" smtClean="0"/>
              <a:t>6.10.2025.</a:t>
            </a:fld>
            <a:endParaRPr lang="hr-H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A89E31-39E2-DFCD-ACC5-D06A865438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AAEF8F-727A-3C55-E8F7-26843E3CEB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C73F3F-A071-4478-B919-9E3FEBFC2858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283431246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2F283C-F71E-B508-36ED-1855582641B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hr-HR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B371ADE-B9DC-2F91-F72B-BF346D4F163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hr-H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08FE45-3C0F-C992-188F-0912EFF12C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1569C6-D007-4C2F-B458-33BC076B5DCE}" type="datetimeFigureOut">
              <a:rPr lang="hr-HR" smtClean="0"/>
              <a:t>6.10.2025.</a:t>
            </a:fld>
            <a:endParaRPr lang="hr-H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66DD3C-2B70-E6B1-A03E-C1E6512A71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29EBB4-2906-80FA-F2DD-D35324489D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D22567-D5E3-412F-8634-378BAFEE4CBF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259633337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BEAE90-A53E-AE11-D7BA-67A7D23EBA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hr-H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8D8DF9-FAAF-9EB4-2958-7050FA44E5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r-H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2965EF-E490-AF2D-0513-7DD53F6C24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1569C6-D007-4C2F-B458-33BC076B5DCE}" type="datetimeFigureOut">
              <a:rPr lang="hr-HR" smtClean="0"/>
              <a:t>6.10.2025.</a:t>
            </a:fld>
            <a:endParaRPr lang="hr-H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DB3769-7117-F66E-8EA4-AF478D39BF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C62FCF-9A98-0DF2-8ACC-8D23457DA0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D22567-D5E3-412F-8634-378BAFEE4CBF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381136927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DD6027-865E-1A31-9A54-510C5639C5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hr-H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779A411-343C-2C96-3BCE-85A473018B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29492C-5071-8598-E0B8-D856705EEF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1569C6-D007-4C2F-B458-33BC076B5DCE}" type="datetimeFigureOut">
              <a:rPr lang="hr-HR" smtClean="0"/>
              <a:t>6.10.2025.</a:t>
            </a:fld>
            <a:endParaRPr lang="hr-H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53F8B6-6D66-EA4B-8DDA-6CD8DD1F45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7E9F93-B495-0B4B-591B-1F7DBA28E3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D22567-D5E3-412F-8634-378BAFEE4CBF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73381939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532B2A-2E5E-37ED-28A7-A8492F5A20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hr-H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C335BB-FFC7-E457-E725-8570F4B9039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r-HR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182628B-27A1-36ED-39A1-279293E5A11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r-HR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CAED8CC-6B02-BF39-1DEE-58BE0897B2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1569C6-D007-4C2F-B458-33BC076B5DCE}" type="datetimeFigureOut">
              <a:rPr lang="hr-HR" smtClean="0"/>
              <a:t>6.10.2025.</a:t>
            </a:fld>
            <a:endParaRPr lang="hr-H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3F8EE86-F753-5205-7A66-8D306D4329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12EC14A-6BAD-41E7-675F-B36CC7C857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D22567-D5E3-412F-8634-378BAFEE4CBF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218547033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071751-049C-F4F3-8979-4F28E6E0CC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hr-H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AF27120-726D-6299-1DEF-1B81B009E24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2B4F83B-B6AD-E51F-25AD-6CDD2FA7BE7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r-HR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6CA9194-1A03-1F9B-1AA6-1EB648F01F7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B99A7DE-6BFB-2450-0074-BAB17B17ED0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r-HR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D565664-6D68-3A01-75D3-26CF9AD20E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1569C6-D007-4C2F-B458-33BC076B5DCE}" type="datetimeFigureOut">
              <a:rPr lang="hr-HR" smtClean="0"/>
              <a:t>6.10.2025.</a:t>
            </a:fld>
            <a:endParaRPr lang="hr-HR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56B5764-50D9-F040-CA4D-099087E576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FB379F2-3A22-15C7-005C-7FDE0032C5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D22567-D5E3-412F-8634-378BAFEE4CBF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190050496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AC6249-CD6B-76CE-02CA-D870EB13E0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hr-HR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E21FA05-6EE8-0493-5D5B-95F1C04DC0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1569C6-D007-4C2F-B458-33BC076B5DCE}" type="datetimeFigureOut">
              <a:rPr lang="hr-HR" smtClean="0"/>
              <a:t>6.10.2025.</a:t>
            </a:fld>
            <a:endParaRPr lang="hr-HR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893C212-834C-C1E2-ABC8-1D54C03201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C2D7231-E22D-5503-E662-2739C2B4C1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D22567-D5E3-412F-8634-378BAFEE4CBF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419696498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5383DF2-EF35-1DB5-D215-CB1196B654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1569C6-D007-4C2F-B458-33BC076B5DCE}" type="datetimeFigureOut">
              <a:rPr lang="hr-HR" smtClean="0"/>
              <a:t>6.10.2025.</a:t>
            </a:fld>
            <a:endParaRPr lang="hr-HR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211D79A-FC87-C23A-2C0B-EC5E30D862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976EAB6-3B36-6648-32F2-2BC61D90DA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D22567-D5E3-412F-8634-378BAFEE4CBF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370840773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BD10F8-5CF0-FF78-31E5-A6753CBC80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hr-H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6EAD75-58AA-3E4C-CDC7-071938F989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r-H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257E71D-652D-205E-2FE3-C5AB0130AF4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5D5A129-1028-D089-007D-0AE39AF902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1569C6-D007-4C2F-B458-33BC076B5DCE}" type="datetimeFigureOut">
              <a:rPr lang="hr-HR" smtClean="0"/>
              <a:t>6.10.2025.</a:t>
            </a:fld>
            <a:endParaRPr lang="hr-H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3620108-3F60-950F-2403-3BC817C3E7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7594EF5-0732-D87D-0DBF-338A539E7B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D22567-D5E3-412F-8634-378BAFEE4CBF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124908582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546BEA-5C17-EF71-FC2A-E2CE01BC3E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hr-HR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1809999-04A9-93D1-3D21-19E11510E9B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hr-H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9A51FBF-0610-2521-B50A-A4E7D306555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078E41E-22A2-9B95-DF49-436BBF12EF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1569C6-D007-4C2F-B458-33BC076B5DCE}" type="datetimeFigureOut">
              <a:rPr lang="hr-HR" smtClean="0"/>
              <a:t>6.10.2025.</a:t>
            </a:fld>
            <a:endParaRPr lang="hr-H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D89A19F-978F-8F52-31F7-696D113FDE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551AC31-2A6F-01C6-FFAB-EC8A89B936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D22567-D5E3-412F-8634-378BAFEE4CBF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168259876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71BE9B-4DBF-CD39-8D7D-2328B8EBC4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hr-H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B7415E1-4115-5E46-282C-58F38A951E6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r-H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713086-95AD-A96F-92F2-999B2DF035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1569C6-D007-4C2F-B458-33BC076B5DCE}" type="datetimeFigureOut">
              <a:rPr lang="hr-HR" smtClean="0"/>
              <a:t>6.10.2025.</a:t>
            </a:fld>
            <a:endParaRPr lang="hr-H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46ED61-CCD8-05E4-1741-B33377ADBD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792E81-2914-906E-19F0-64AD7C972A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D22567-D5E3-412F-8634-378BAFEE4CBF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134383804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DC907D2-211B-EDF2-A6D7-31E2060DFB4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hr-H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A334AEC-3D76-D0C2-21B3-AF65C1A35A6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r-H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A73EB4-4E88-AB7C-C45E-67B14939DD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1569C6-D007-4C2F-B458-33BC076B5DCE}" type="datetimeFigureOut">
              <a:rPr lang="hr-HR" smtClean="0"/>
              <a:t>6.10.2025.</a:t>
            </a:fld>
            <a:endParaRPr lang="hr-H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067F53-8C1B-3812-79B1-65A9CC3FBA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627D03-B471-739A-BAA7-6AEA6C3894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D22567-D5E3-412F-8634-378BAFEE4CBF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3036181253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D7A71A0-8E3C-6E90-68E2-AC3FFD9256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  <a:endParaRPr lang="hr-HR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D0A9CF7-7DA5-3331-F188-5D6A8E1D71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r-H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4B8E49-4C19-003B-AE54-F67356F4A57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3B8299A-E7E1-435C-8F6D-352ABDC08D0B}" type="datetimeFigureOut">
              <a:rPr lang="hr-HR" smtClean="0"/>
              <a:t>6.10.2025.</a:t>
            </a:fld>
            <a:endParaRPr lang="hr-H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941D03-DC94-55A7-D1CB-0E1E8729E88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hr-H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143E95-2CD0-87F1-ACA3-545FD51FCE8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7C73F3F-A071-4478-B919-9E3FEBFC2858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37540686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sr-Latn-R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6EB6166-1C7C-8264-FA2D-AE521EB76A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hr-H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99E7DF0-374C-EF5C-9E65-E4D6A56BF3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r-H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FB1152-A74C-398D-CC4E-A32484F7202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11569C6-D007-4C2F-B458-33BC076B5DCE}" type="datetimeFigureOut">
              <a:rPr lang="hr-HR" smtClean="0"/>
              <a:t>6.10.2025.</a:t>
            </a:fld>
            <a:endParaRPr lang="hr-H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9745C3-55EE-3302-4229-11E4A996F5E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hr-H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A3C372-CBCD-F5B7-530E-CCF6A02AEC0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1D22567-D5E3-412F-8634-378BAFEE4CBF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1676481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sr-Latn-R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0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6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1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3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4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5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Paralelno programiranje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Vježba 2: taskovi i prve zamke paralelnog programa</a:t>
            </a:r>
          </a:p>
          <a:p>
            <a:r>
              <a:t>Marin Aglić Čuvić, prema predavanjima Tonćija Dadića</a:t>
            </a:r>
          </a:p>
          <a:p>
            <a:r>
              <a:t>Akademska godina 2026/2027.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971306"/>
          </a:xfrm>
        </p:spPr>
        <p:txBody>
          <a:bodyPr/>
          <a:lstStyle/>
          <a:p>
            <a:r>
              <a:t>Priprema okruženja za vježbe</a:t>
            </a:r>
          </a:p>
        </p:txBody>
      </p:sp>
      <p:sp>
        <p:nvSpPr>
          <p:cNvPr id="3" name="Setup card 1"/>
          <p:cNvSpPr/>
          <p:nvPr/>
        </p:nvSpPr>
        <p:spPr>
          <a:xfrm>
            <a:off x="841248" y="1554480"/>
            <a:ext cx="3383280" cy="3566160"/>
          </a:xfrm>
          <a:prstGeom prst="roundRect">
            <a:avLst>
              <a:gd name="adj" fmla="val 8000"/>
            </a:avLst>
          </a:prstGeom>
          <a:solidFill>
            <a:schemeClr val="accent1">
              <a:lumMod val="12000"/>
              <a:lumOff val="88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Setup num 1"/>
          <p:cNvSpPr/>
          <p:nvPr/>
        </p:nvSpPr>
        <p:spPr>
          <a:xfrm>
            <a:off x="1069848" y="1737360"/>
            <a:ext cx="502920" cy="502920"/>
          </a:xfrm>
          <a:prstGeom prst="ellipse">
            <a:avLst/>
          </a:prstGeom>
          <a:solidFill>
            <a:schemeClr val="accent1">
              <a:lumMod val="70000"/>
              <a:lumOff val="3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800" b="1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09928" y="1737360"/>
            <a:ext cx="23774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1">
                <a:solidFill>
                  <a:schemeClr val="tx1"/>
                </a:solidFill>
              </a:rPr>
              <a:t>Instalirajte .NET 10 SDK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9848" y="2514600"/>
            <a:ext cx="2926080" cy="2560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85750" indent="-285750">
              <a:spcAft>
                <a:spcPts val="800"/>
              </a:spcAft>
              <a:buChar char="•"/>
            </a:pPr>
            <a:r>
              <a:rPr sz="1500">
                <a:solidFill>
                  <a:schemeClr val="tx1"/>
                </a:solidFill>
              </a:rPr>
              <a:t>Preuzmite ga s dotnet.microsoft.com/en-us/download.</a:t>
            </a:r>
          </a:p>
          <a:p>
            <a:pPr marL="285750" indent="-285750">
              <a:spcAft>
                <a:spcPts val="800"/>
              </a:spcAft>
              <a:buChar char="•"/>
            </a:pPr>
            <a:r>
              <a:rPr sz="1500">
                <a:solidFill>
                  <a:schemeClr val="tx1"/>
                </a:solidFill>
              </a:rPr>
              <a:t>Provjera u terminalu: dotnet --list-sdks mora ispisati verziju 10.x.</a:t>
            </a:r>
          </a:p>
        </p:txBody>
      </p:sp>
      <p:sp>
        <p:nvSpPr>
          <p:cNvPr id="7" name="Setup card 2"/>
          <p:cNvSpPr/>
          <p:nvPr/>
        </p:nvSpPr>
        <p:spPr>
          <a:xfrm>
            <a:off x="4453128" y="1554480"/>
            <a:ext cx="3383280" cy="3566160"/>
          </a:xfrm>
          <a:prstGeom prst="roundRect">
            <a:avLst>
              <a:gd name="adj" fmla="val 8000"/>
            </a:avLst>
          </a:prstGeom>
          <a:solidFill>
            <a:schemeClr val="accent3">
              <a:lumMod val="12000"/>
              <a:lumOff val="88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Setup num 2"/>
          <p:cNvSpPr/>
          <p:nvPr/>
        </p:nvSpPr>
        <p:spPr>
          <a:xfrm>
            <a:off x="4681728" y="1737360"/>
            <a:ext cx="502920" cy="502920"/>
          </a:xfrm>
          <a:prstGeom prst="ellipse">
            <a:avLst/>
          </a:prstGeom>
          <a:solidFill>
            <a:schemeClr val="accent3">
              <a:lumMod val="70000"/>
              <a:lumOff val="3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800" b="1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21808" y="1737360"/>
            <a:ext cx="23774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1">
                <a:solidFill>
                  <a:schemeClr val="tx1"/>
                </a:solidFill>
              </a:rPr>
              <a:t>Odaberite okruženje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81728" y="2514600"/>
            <a:ext cx="2926080" cy="2560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85750" indent="-285750">
              <a:spcAft>
                <a:spcPts val="800"/>
              </a:spcAft>
              <a:buChar char="•"/>
            </a:pPr>
            <a:r>
              <a:rPr sz="1500">
                <a:solidFill>
                  <a:schemeClr val="tx1"/>
                </a:solidFill>
              </a:rPr>
              <a:t>Visual Studio 2026 (radno opterećenje za .NET)</a:t>
            </a:r>
          </a:p>
          <a:p>
            <a:pPr marL="285750" indent="-285750">
              <a:spcAft>
                <a:spcPts val="800"/>
              </a:spcAft>
              <a:buChar char="•"/>
            </a:pPr>
            <a:r>
              <a:rPr sz="1500">
                <a:solidFill>
                  <a:schemeClr val="tx1"/>
                </a:solidFill>
              </a:rPr>
              <a:t>JetBrains Rider</a:t>
            </a:r>
          </a:p>
          <a:p>
            <a:pPr marL="285750" indent="-285750">
              <a:spcAft>
                <a:spcPts val="800"/>
              </a:spcAft>
              <a:buChar char="•"/>
            </a:pPr>
            <a:r>
              <a:rPr sz="1500">
                <a:solidFill>
                  <a:schemeClr val="tx1"/>
                </a:solidFill>
              </a:rPr>
              <a:t>Visual Studio Code uz proširenje C# Dev Kit</a:t>
            </a:r>
          </a:p>
        </p:txBody>
      </p:sp>
      <p:sp>
        <p:nvSpPr>
          <p:cNvPr id="11" name="Setup card 3"/>
          <p:cNvSpPr/>
          <p:nvPr/>
        </p:nvSpPr>
        <p:spPr>
          <a:xfrm>
            <a:off x="8065008" y="1554480"/>
            <a:ext cx="3383280" cy="3566160"/>
          </a:xfrm>
          <a:prstGeom prst="roundRect">
            <a:avLst>
              <a:gd name="adj" fmla="val 8000"/>
            </a:avLst>
          </a:prstGeom>
          <a:solidFill>
            <a:schemeClr val="accent2">
              <a:lumMod val="12000"/>
              <a:lumOff val="88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Setup num 3"/>
          <p:cNvSpPr/>
          <p:nvPr/>
        </p:nvSpPr>
        <p:spPr>
          <a:xfrm>
            <a:off x="8293608" y="1737360"/>
            <a:ext cx="502920" cy="502920"/>
          </a:xfrm>
          <a:prstGeom prst="ellipse">
            <a:avLst/>
          </a:prstGeom>
          <a:solidFill>
            <a:schemeClr val="accent2">
              <a:lumMod val="70000"/>
              <a:lumOff val="3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800" b="1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33688" y="1737360"/>
            <a:ext cx="23774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1">
                <a:solidFill>
                  <a:schemeClr val="tx1"/>
                </a:solidFill>
              </a:rPr>
              <a:t>Otvorite i pokrenite zadatak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93608" y="2514600"/>
            <a:ext cx="2926080" cy="2560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85750" indent="-285750">
              <a:spcAft>
                <a:spcPts val="800"/>
              </a:spcAft>
              <a:buChar char="•"/>
            </a:pPr>
            <a:r>
              <a:rPr sz="1500">
                <a:solidFill>
                  <a:schemeClr val="tx1"/>
                </a:solidFill>
              </a:rPr>
              <a:t>Visual Studio i Rider: otvorite Vjezba2.sln. Svaki zadatak je zaseban projekt.</a:t>
            </a:r>
          </a:p>
          <a:p>
            <a:pPr marL="285750" indent="-285750">
              <a:spcAft>
                <a:spcPts val="800"/>
              </a:spcAft>
              <a:buChar char="•"/>
            </a:pPr>
            <a:r>
              <a:rPr sz="1500">
                <a:solidFill>
                  <a:schemeClr val="tx1"/>
                </a:solidFill>
              </a:rPr>
              <a:t>Odaberite projekt zadatka (Set as Startup Project) i pokrenite s F5.</a:t>
            </a:r>
          </a:p>
          <a:p>
            <a:pPr marL="285750" indent="-285750">
              <a:spcAft>
                <a:spcPts val="800"/>
              </a:spcAft>
              <a:buChar char="•"/>
            </a:pPr>
            <a:r>
              <a:rPr sz="1500">
                <a:solidFill>
                  <a:schemeClr val="tx1"/>
                </a:solidFill>
              </a:rPr>
              <a:t>VS Code: Open Folder, konfiguracija »zadatak N«. Terminal: dotnet run u mapi zadatka.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8" y="5349240"/>
            <a:ext cx="106070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>
                <a:solidFill>
                  <a:schemeClr val="tx2"/>
                </a:solidFill>
              </a:rPr>
              <a:t>Za mjerenje vremena pokrećite program u Release konfiguraciji, ne u Debugu.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8" y="5806440"/>
            <a:ext cx="106070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chemeClr val="tx2"/>
                </a:solidFill>
              </a:rPr>
              <a:t>Imate samo Visual Studio 2022? U datoteci Directory.Build.props promijenite net10.0 u net8.0 (u VS Codeu i u .vscode/launch.json). Zadaci rade jednako.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971306"/>
          </a:xfrm>
        </p:spPr>
        <p:txBody>
          <a:bodyPr/>
          <a:lstStyle/>
          <a:p>
            <a:r>
              <a:t>Što ćemo napraviti</a:t>
            </a:r>
          </a:p>
        </p:txBody>
      </p:sp>
      <p:sp>
        <p:nvSpPr>
          <p:cNvPr id="3" name="Card 1"/>
          <p:cNvSpPr/>
          <p:nvPr/>
        </p:nvSpPr>
        <p:spPr>
          <a:xfrm>
            <a:off x="841248" y="1737360"/>
            <a:ext cx="3383280" cy="2926080"/>
          </a:xfrm>
          <a:prstGeom prst="roundRect">
            <a:avLst>
              <a:gd name="adj" fmla="val 8000"/>
            </a:avLst>
          </a:prstGeom>
          <a:solidFill>
            <a:schemeClr val="accent1">
              <a:lumMod val="15000"/>
              <a:lumOff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15568" y="1965960"/>
            <a:ext cx="28346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chemeClr val="accent1"/>
                </a:solidFill>
              </a:rPr>
              <a:t>Pokrenuti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" y="2743200"/>
            <a:ext cx="2834640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>
                <a:solidFill>
                  <a:schemeClr val="tx1"/>
                </a:solidFill>
              </a:rPr>
              <a:t>posao na više taskova i dočekati rezultat</a:t>
            </a:r>
          </a:p>
        </p:txBody>
      </p:sp>
      <p:sp>
        <p:nvSpPr>
          <p:cNvPr id="6" name="Card 2"/>
          <p:cNvSpPr/>
          <p:nvPr/>
        </p:nvSpPr>
        <p:spPr>
          <a:xfrm>
            <a:off x="4453128" y="1737360"/>
            <a:ext cx="3383280" cy="2926080"/>
          </a:xfrm>
          <a:prstGeom prst="roundRect">
            <a:avLst>
              <a:gd name="adj" fmla="val 8000"/>
            </a:avLst>
          </a:prstGeom>
          <a:solidFill>
            <a:schemeClr val="accent3">
              <a:lumMod val="15000"/>
              <a:lumOff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27448" y="1965960"/>
            <a:ext cx="28346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chemeClr val="accent3"/>
                </a:solidFill>
              </a:rPr>
              <a:t>Izmjeriti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27448" y="2743200"/>
            <a:ext cx="2834640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>
                <a:solidFill>
                  <a:schemeClr val="tx1"/>
                </a:solidFill>
              </a:rPr>
              <a:t>koliko je program brži i isplati li se</a:t>
            </a:r>
          </a:p>
        </p:txBody>
      </p:sp>
      <p:sp>
        <p:nvSpPr>
          <p:cNvPr id="9" name="Card 3"/>
          <p:cNvSpPr/>
          <p:nvPr/>
        </p:nvSpPr>
        <p:spPr>
          <a:xfrm>
            <a:off x="8065008" y="1737360"/>
            <a:ext cx="3383280" cy="2926080"/>
          </a:xfrm>
          <a:prstGeom prst="roundRect">
            <a:avLst>
              <a:gd name="adj" fmla="val 8000"/>
            </a:avLst>
          </a:prstGeom>
          <a:solidFill>
            <a:schemeClr val="accent2">
              <a:lumMod val="15000"/>
              <a:lumOff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39328" y="1965960"/>
            <a:ext cx="28346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chemeClr val="accent2"/>
                </a:solidFill>
              </a:rPr>
              <a:t>Prepoznati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39328" y="2743200"/>
            <a:ext cx="2834640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>
                <a:solidFill>
                  <a:schemeClr val="tx1"/>
                </a:solidFill>
              </a:rPr>
              <a:t>zamke zbog kojih paralelni program daje pogrešan rezultat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8" y="5029200"/>
            <a:ext cx="106070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1">
                <a:solidFill>
                  <a:schemeClr val="tx2"/>
                </a:solidFill>
              </a:rPr>
              <a:t>Za to trebamo pet stvari: Task, mjerenje vremena, podjelu raspona, Parallel.For i pojam data race (utrka za podatke). Prolazimo ih redom.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971306"/>
          </a:xfrm>
        </p:spPr>
        <p:txBody>
          <a:bodyPr/>
          <a:lstStyle/>
          <a:p>
            <a:r>
              <a:t>Thread, ThreadPool, Task</a:t>
            </a:r>
          </a:p>
        </p:txBody>
      </p:sp>
      <p:sp>
        <p:nvSpPr>
          <p:cNvPr id="3" name="Card Thread"/>
          <p:cNvSpPr/>
          <p:nvPr/>
        </p:nvSpPr>
        <p:spPr>
          <a:xfrm>
            <a:off x="841248" y="1463040"/>
            <a:ext cx="3383280" cy="3566160"/>
          </a:xfrm>
          <a:prstGeom prst="roundRect">
            <a:avLst>
              <a:gd name="adj" fmla="val 8000"/>
            </a:avLst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69848" y="1600200"/>
            <a:ext cx="29260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chemeClr val="tx2"/>
                </a:solidFill>
              </a:rPr>
              <a:t>Thread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9848" y="2240280"/>
            <a:ext cx="297180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85750" indent="-285750">
              <a:spcAft>
                <a:spcPts val="800"/>
              </a:spcAft>
              <a:buChar char="•"/>
            </a:pPr>
            <a:r>
              <a:rPr sz="1700">
                <a:solidFill>
                  <a:schemeClr val="tx1"/>
                </a:solidFill>
              </a:rPr>
              <a:t>nit sa svojim stogom</a:t>
            </a:r>
          </a:p>
          <a:p>
            <a:pPr marL="285750" indent="-285750">
              <a:spcAft>
                <a:spcPts val="800"/>
              </a:spcAft>
              <a:buChar char="•"/>
            </a:pPr>
            <a:r>
              <a:rPr sz="1700">
                <a:solidFill>
                  <a:schemeClr val="tx1"/>
                </a:solidFill>
              </a:rPr>
              <a:t>svaka nova nit ima cijenu stvaranja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9848" y="4114800"/>
            <a:ext cx="2971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chemeClr val="tx2"/>
                </a:solidFill>
              </a:rPr>
              <a:t>vlastitu nit trebamo rijetko, npr. za dugo blokiranje [5]</a:t>
            </a:r>
          </a:p>
        </p:txBody>
      </p:sp>
      <p:sp>
        <p:nvSpPr>
          <p:cNvPr id="7" name="Card ThreadPool"/>
          <p:cNvSpPr/>
          <p:nvPr/>
        </p:nvSpPr>
        <p:spPr>
          <a:xfrm>
            <a:off x="4453128" y="1463040"/>
            <a:ext cx="3383280" cy="3566160"/>
          </a:xfrm>
          <a:prstGeom prst="roundRect">
            <a:avLst>
              <a:gd name="adj" fmla="val 8000"/>
            </a:avLst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81728" y="1600200"/>
            <a:ext cx="29260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chemeClr val="tx2"/>
                </a:solidFill>
              </a:rPr>
              <a:t>ThreadPool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81728" y="2240280"/>
            <a:ext cx="297180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85750" indent="-285750">
              <a:spcAft>
                <a:spcPts val="800"/>
              </a:spcAft>
              <a:buChar char="•"/>
            </a:pPr>
            <a:r>
              <a:rPr sz="1700">
                <a:solidFill>
                  <a:schemeClr val="tx1"/>
                </a:solidFill>
              </a:rPr>
              <a:t>fond niti: gotova nit se vraća i ponovno koristi</a:t>
            </a:r>
          </a:p>
          <a:p>
            <a:pPr marL="285750" indent="-285750">
              <a:spcAft>
                <a:spcPts val="800"/>
              </a:spcAft>
              <a:buChar char="•"/>
            </a:pPr>
            <a:r>
              <a:rPr sz="1700">
                <a:solidFill>
                  <a:schemeClr val="tx1"/>
                </a:solidFill>
              </a:rPr>
              <a:t>QueueUserWorkItem ne vraća rezultat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81728" y="4114800"/>
            <a:ext cx="2971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chemeClr val="tx2"/>
                </a:solidFill>
              </a:rPr>
              <a:t>radi »ispod« taskova [5]</a:t>
            </a:r>
          </a:p>
        </p:txBody>
      </p:sp>
      <p:sp>
        <p:nvSpPr>
          <p:cNvPr id="11" name="Card Task"/>
          <p:cNvSpPr/>
          <p:nvPr/>
        </p:nvSpPr>
        <p:spPr>
          <a:xfrm>
            <a:off x="8065008" y="1463040"/>
            <a:ext cx="3383280" cy="3566160"/>
          </a:xfrm>
          <a:prstGeom prst="roundRect">
            <a:avLst>
              <a:gd name="adj" fmla="val 8000"/>
            </a:avLst>
          </a:prstGeom>
          <a:solidFill>
            <a:schemeClr val="accent1">
              <a:lumMod val="15000"/>
              <a:lumOff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93608" y="1600200"/>
            <a:ext cx="29260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chemeClr val="accent1"/>
                </a:solidFill>
              </a:rPr>
              <a:t>Task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93608" y="2240280"/>
            <a:ext cx="297180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85750" indent="-285750">
              <a:spcAft>
                <a:spcPts val="800"/>
              </a:spcAft>
              <a:buChar char="•"/>
            </a:pPr>
            <a:r>
              <a:rPr sz="1700">
                <a:solidFill>
                  <a:schemeClr val="tx1"/>
                </a:solidFill>
              </a:rPr>
              <a:t>posao koji se izvodi na niti iz fonda</a:t>
            </a:r>
          </a:p>
          <a:p>
            <a:pPr marL="285750" indent="-285750">
              <a:spcAft>
                <a:spcPts val="800"/>
              </a:spcAft>
              <a:buChar char="•"/>
            </a:pPr>
            <a:r>
              <a:rPr sz="1700">
                <a:solidFill>
                  <a:schemeClr val="tx1"/>
                </a:solidFill>
              </a:rPr>
              <a:t>ima rezultat (Result) i čekanje (WaitAll)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93608" y="4114800"/>
            <a:ext cx="2971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chemeClr val="accent1"/>
                </a:solidFill>
              </a:rPr>
              <a:t>koristimo: Task.Run [6]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8" y="5303520"/>
            <a:ext cx="106070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1">
                <a:solidFill>
                  <a:schemeClr val="tx2"/>
                </a:solidFill>
              </a:rPr>
              <a:t>Task je posao, nit je radnik. Više taskova može redom proći kroz istu nit.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971306"/>
          </a:xfrm>
        </p:spPr>
        <p:txBody>
          <a:bodyPr/>
          <a:lstStyle/>
          <a:p>
            <a:r>
              <a:t>Task: posao koji se izvodi na drugoj niti</a:t>
            </a:r>
          </a:p>
        </p:txBody>
      </p:sp>
      <p:sp>
        <p:nvSpPr>
          <p:cNvPr id="3" name="Code task"/>
          <p:cNvSpPr/>
          <p:nvPr/>
        </p:nvSpPr>
        <p:spPr>
          <a:xfrm>
            <a:off x="841248" y="1645920"/>
            <a:ext cx="5852160" cy="2103120"/>
          </a:xfrm>
          <a:prstGeom prst="roundRect">
            <a:avLst>
              <a:gd name="adj" fmla="val 4000"/>
            </a:avLst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l"/>
            <a:r>
              <a:rPr sz="1800" b="0">
                <a:solidFill>
                  <a:schemeClr val="bg1"/>
                </a:solidFill>
                <a:latin typeface="Consolas"/>
              </a:rPr>
              <a:t>Task&lt;long&gt; t = Task.Run(() =&gt;</a:t>
            </a:r>
          </a:p>
          <a:p>
            <a:pPr algn="l"/>
            <a:r>
              <a:rPr sz="1800" b="0">
                <a:solidFill>
                  <a:schemeClr val="bg1"/>
                </a:solidFill>
                <a:latin typeface="Consolas"/>
              </a:rPr>
              <a:t>    Zbroji(1, 100));</a:t>
            </a:r>
          </a:p>
          <a:p>
            <a:pPr algn="l"/>
            <a:r>
              <a:rPr sz="1800" b="0">
                <a:solidFill>
                  <a:schemeClr val="bg1"/>
                </a:solidFill>
                <a:latin typeface="Consolas"/>
              </a:rPr>
              <a:t/>
            </a:r>
          </a:p>
          <a:p>
            <a:pPr algn="l"/>
            <a:r>
              <a:rPr sz="1800" b="0">
                <a:solidFill>
                  <a:schemeClr val="bg1"/>
                </a:solidFill>
                <a:latin typeface="Consolas"/>
              </a:rPr>
              <a:t>long r = t.Result;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949440" y="1645920"/>
            <a:ext cx="4480560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85750" indent="-285750">
              <a:spcAft>
                <a:spcPts val="1000"/>
              </a:spcAft>
              <a:buChar char="•"/>
            </a:pPr>
            <a:r>
              <a:rPr sz="1800">
                <a:solidFill>
                  <a:schemeClr val="tx1"/>
                </a:solidFill>
              </a:rPr>
              <a:t>Task.Run prima delegat (lambdu) i pokreće ga na niti iz fonda niti (thread pool).</a:t>
            </a:r>
          </a:p>
          <a:p>
            <a:pPr marL="285750" indent="-285750">
              <a:spcAft>
                <a:spcPts val="1000"/>
              </a:spcAft>
              <a:buChar char="•"/>
            </a:pPr>
            <a:r>
              <a:rPr sz="1800">
                <a:solidFill>
                  <a:schemeClr val="tx1"/>
                </a:solidFill>
              </a:rPr>
              <a:t>Poziv se odmah vraća, a posao teče u pozadini.</a:t>
            </a:r>
          </a:p>
          <a:p>
            <a:pPr marL="285750" indent="-285750">
              <a:spcAft>
                <a:spcPts val="1000"/>
              </a:spcAft>
              <a:buChar char="•"/>
            </a:pPr>
            <a:r>
              <a:rPr sz="1800">
                <a:solidFill>
                  <a:schemeClr val="tx1"/>
                </a:solidFill>
              </a:rPr>
              <a:t>Task&lt;long&gt; je obećanje rezultata tipa long.</a:t>
            </a:r>
          </a:p>
          <a:p>
            <a:pPr marL="285750" indent="-285750">
              <a:spcAft>
                <a:spcPts val="1000"/>
              </a:spcAft>
              <a:buChar char="•"/>
            </a:pPr>
            <a:r>
              <a:rPr sz="1800">
                <a:solidFill>
                  <a:schemeClr val="tx1"/>
                </a:solidFill>
              </a:rPr>
              <a:t>t.Result čeka da task završi i vraća rezultat.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4114800"/>
            <a:ext cx="585216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>
                <a:solidFill>
                  <a:schemeClr val="tx2"/>
                </a:solidFill>
              </a:rPr>
              <a:t>Lambda () =&gt; Zbroji(1, 100) je isti koncept kao u vježbi 1: funkcija predana kao argument.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971306"/>
          </a:xfrm>
        </p:spPr>
        <p:txBody>
          <a:bodyPr/>
          <a:lstStyle/>
          <a:p>
            <a:r>
              <a:t>Više taskova: čekanje na sve</a:t>
            </a:r>
          </a:p>
        </p:txBody>
      </p:sp>
      <p:sp>
        <p:nvSpPr>
          <p:cNvPr id="3" name="Code waitall"/>
          <p:cNvSpPr/>
          <p:nvPr/>
        </p:nvSpPr>
        <p:spPr>
          <a:xfrm>
            <a:off x="841248" y="1645920"/>
            <a:ext cx="5852160" cy="2926080"/>
          </a:xfrm>
          <a:prstGeom prst="roundRect">
            <a:avLst>
              <a:gd name="adj" fmla="val 4000"/>
            </a:avLst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l"/>
            <a:r>
              <a:rPr sz="1700" b="0">
                <a:solidFill>
                  <a:schemeClr val="bg1"/>
                </a:solidFill>
                <a:latin typeface="Consolas"/>
              </a:rPr>
              <a:t>var a = Task.Run(() =&gt; Zbroji(1, 50));</a:t>
            </a:r>
          </a:p>
          <a:p>
            <a:pPr algn="l"/>
            <a:r>
              <a:rPr sz="1700" b="0">
                <a:solidFill>
                  <a:schemeClr val="bg1"/>
                </a:solidFill>
                <a:latin typeface="Consolas"/>
              </a:rPr>
              <a:t>var b = Task.Run(() =&gt; Zbroji(51, 100));</a:t>
            </a:r>
          </a:p>
          <a:p>
            <a:pPr algn="l"/>
            <a:r>
              <a:rPr sz="1700" b="0">
                <a:solidFill>
                  <a:schemeClr val="bg1"/>
                </a:solidFill>
                <a:latin typeface="Consolas"/>
              </a:rPr>
              <a:t/>
            </a:r>
          </a:p>
          <a:p>
            <a:pPr algn="l"/>
            <a:r>
              <a:rPr sz="1700" b="0">
                <a:solidFill>
                  <a:schemeClr val="bg1"/>
                </a:solidFill>
                <a:latin typeface="Consolas"/>
              </a:rPr>
              <a:t>Task.WaitAll(a, b);</a:t>
            </a:r>
          </a:p>
          <a:p>
            <a:pPr algn="l"/>
            <a:r>
              <a:rPr sz="1700" b="0">
                <a:solidFill>
                  <a:schemeClr val="bg1"/>
                </a:solidFill>
                <a:latin typeface="Consolas"/>
              </a:rPr>
              <a:t>long zbroj = a.Result + b.Result;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949440" y="1645920"/>
            <a:ext cx="4480560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85750" indent="-285750">
              <a:spcAft>
                <a:spcPts val="1000"/>
              </a:spcAft>
              <a:buChar char="•"/>
            </a:pPr>
            <a:r>
              <a:rPr sz="1800">
                <a:solidFill>
                  <a:schemeClr val="tx1"/>
                </a:solidFill>
              </a:rPr>
              <a:t>Oba taska rade istodobno.</a:t>
            </a:r>
          </a:p>
          <a:p>
            <a:pPr marL="285750" indent="-285750">
              <a:spcAft>
                <a:spcPts val="1000"/>
              </a:spcAft>
              <a:buChar char="•"/>
            </a:pPr>
            <a:r>
              <a:rPr sz="1800">
                <a:solidFill>
                  <a:schemeClr val="tx1"/>
                </a:solidFill>
              </a:rPr>
              <a:t>Task.WaitAll(a, b) čeka da završe svi navedeni taskovi.</a:t>
            </a:r>
          </a:p>
          <a:p>
            <a:pPr marL="285750" indent="-285750">
              <a:spcAft>
                <a:spcPts val="1000"/>
              </a:spcAft>
              <a:buChar char="•"/>
            </a:pPr>
            <a:r>
              <a:rPr sz="1800">
                <a:solidFill>
                  <a:schemeClr val="tx1"/>
                </a:solidFill>
              </a:rPr>
              <a:t>Rezultate čitamo tek kad su taskovi gotovi.</a:t>
            </a:r>
          </a:p>
          <a:p>
            <a:pPr marL="285750" indent="-285750">
              <a:spcAft>
                <a:spcPts val="1000"/>
              </a:spcAft>
              <a:buChar char="•"/>
            </a:pPr>
            <a:r>
              <a:rPr sz="1800">
                <a:solidFill>
                  <a:schemeClr val="tx1"/>
                </a:solidFill>
              </a:rPr>
              <a:t>Task bez rezultata (Action) ima samo WaitAll, bez Result.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971306"/>
          </a:xfrm>
        </p:spPr>
        <p:txBody>
          <a:bodyPr/>
          <a:lstStyle/>
          <a:p>
            <a:r>
              <a:t>Podjela raspona na dijelove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41248" y="1417320"/>
            <a:ext cx="106070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>
                <a:solidFill>
                  <a:schemeClr val="tx2"/>
                </a:solidFill>
              </a:rPr>
              <a:t>Zbroj brojeva od 1 do N dijelimo na k jednakih dijelova. Primjer: N = 12, k = 3.</a:t>
            </a:r>
          </a:p>
        </p:txBody>
      </p:sp>
      <p:sp>
        <p:nvSpPr>
          <p:cNvPr id="4" name="Part 0"/>
          <p:cNvSpPr/>
          <p:nvPr/>
        </p:nvSpPr>
        <p:spPr>
          <a:xfrm>
            <a:off x="841248" y="2011680"/>
            <a:ext cx="3383280" cy="822960"/>
          </a:xfrm>
          <a:prstGeom prst="roundRect">
            <a:avLst>
              <a:gd name="adj" fmla="val 12000"/>
            </a:avLst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2000" b="1">
                <a:solidFill>
                  <a:schemeClr val="tx1"/>
                </a:solidFill>
              </a:rPr>
              <a:t>dio 0:  od 1 do 4</a:t>
            </a:r>
          </a:p>
        </p:txBody>
      </p:sp>
      <p:sp>
        <p:nvSpPr>
          <p:cNvPr id="5" name="Part 1"/>
          <p:cNvSpPr/>
          <p:nvPr/>
        </p:nvSpPr>
        <p:spPr>
          <a:xfrm>
            <a:off x="4453128" y="2011680"/>
            <a:ext cx="3383280" cy="822960"/>
          </a:xfrm>
          <a:prstGeom prst="roundRect">
            <a:avLst>
              <a:gd name="adj" fmla="val 12000"/>
            </a:avLst>
          </a:prstGeom>
          <a:solidFill>
            <a:schemeClr val="accent3">
              <a:lumMod val="40000"/>
              <a:lumOff val="6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2000" b="1">
                <a:solidFill>
                  <a:schemeClr val="tx1"/>
                </a:solidFill>
              </a:rPr>
              <a:t>dio 1:  od 5 do 8</a:t>
            </a:r>
          </a:p>
        </p:txBody>
      </p:sp>
      <p:sp>
        <p:nvSpPr>
          <p:cNvPr id="6" name="Part 2"/>
          <p:cNvSpPr/>
          <p:nvPr/>
        </p:nvSpPr>
        <p:spPr>
          <a:xfrm>
            <a:off x="8065008" y="2011680"/>
            <a:ext cx="3383280" cy="822960"/>
          </a:xfrm>
          <a:prstGeom prst="roundRect">
            <a:avLst>
              <a:gd name="adj" fmla="val 12000"/>
            </a:avLst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2000" b="1">
                <a:solidFill>
                  <a:schemeClr val="tx1"/>
                </a:solidFill>
              </a:rPr>
              <a:t>dio 2:  od 9 do 12</a:t>
            </a:r>
          </a:p>
        </p:txBody>
      </p:sp>
      <p:sp>
        <p:nvSpPr>
          <p:cNvPr id="7" name="Code range"/>
          <p:cNvSpPr/>
          <p:nvPr/>
        </p:nvSpPr>
        <p:spPr>
          <a:xfrm>
            <a:off x="841248" y="3200400"/>
            <a:ext cx="5669280" cy="2011680"/>
          </a:xfrm>
          <a:prstGeom prst="roundRect">
            <a:avLst>
              <a:gd name="adj" fmla="val 4000"/>
            </a:avLst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l"/>
            <a:r>
              <a:rPr sz="1700" b="0">
                <a:solidFill>
                  <a:schemeClr val="bg1"/>
                </a:solidFill>
                <a:latin typeface="Consolas"/>
              </a:rPr>
              <a:t>long velicina = N / k;</a:t>
            </a:r>
          </a:p>
          <a:p>
            <a:pPr algn="l"/>
            <a:r>
              <a:rPr sz="1700" b="0">
                <a:solidFill>
                  <a:schemeClr val="bg1"/>
                </a:solidFill>
                <a:latin typeface="Consolas"/>
              </a:rPr>
              <a:t>long od = j * velicina + 1;</a:t>
            </a:r>
          </a:p>
          <a:p>
            <a:pPr algn="l"/>
            <a:r>
              <a:rPr sz="1700" b="0">
                <a:solidFill>
                  <a:schemeClr val="bg1"/>
                </a:solidFill>
                <a:latin typeface="Consolas"/>
              </a:rPr>
              <a:t>long do_ = (j + 1) * velicina;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66560" y="3200400"/>
            <a:ext cx="4663440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85750" indent="-285750">
              <a:spcAft>
                <a:spcPts val="800"/>
              </a:spcAft>
              <a:buChar char="•"/>
            </a:pPr>
            <a:r>
              <a:rPr sz="1700">
                <a:solidFill>
                  <a:schemeClr val="tx1"/>
                </a:solidFill>
              </a:rPr>
              <a:t>j je redni broj dijela (0 … k − 1).</a:t>
            </a:r>
          </a:p>
          <a:p>
            <a:pPr marL="285750" indent="-285750">
              <a:spcAft>
                <a:spcPts val="800"/>
              </a:spcAft>
              <a:buChar char="•"/>
            </a:pPr>
            <a:r>
              <a:rPr sz="1700">
                <a:solidFill>
                  <a:schemeClr val="tx1"/>
                </a:solidFill>
              </a:rPr>
              <a:t>N / k je cjelobrojno dijeljenje: ostatak se odbacuje.</a:t>
            </a:r>
          </a:p>
          <a:p>
            <a:pPr marL="285750" indent="-285750">
              <a:spcAft>
                <a:spcPts val="800"/>
              </a:spcAft>
              <a:buChar char="•"/>
            </a:pPr>
            <a:r>
              <a:rPr sz="1700">
                <a:solidFill>
                  <a:schemeClr val="tx1"/>
                </a:solidFill>
              </a:rPr>
              <a:t>Za N = 14 i k = 3 dijelovi bi pokrili samo 12 brojeva. Pitanje: što s dva broja koja ostaju?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971306"/>
          </a:xfrm>
        </p:spPr>
        <p:txBody>
          <a:bodyPr/>
          <a:lstStyle/>
          <a:p>
            <a:r>
              <a:t>Mjerenje vremena izvođenja</a:t>
            </a:r>
          </a:p>
        </p:txBody>
      </p:sp>
      <p:sp>
        <p:nvSpPr>
          <p:cNvPr id="3" name="Code stopwatch"/>
          <p:cNvSpPr/>
          <p:nvPr/>
        </p:nvSpPr>
        <p:spPr>
          <a:xfrm>
            <a:off x="841248" y="1645920"/>
            <a:ext cx="5852160" cy="2377440"/>
          </a:xfrm>
          <a:prstGeom prst="roundRect">
            <a:avLst>
              <a:gd name="adj" fmla="val 4000"/>
            </a:avLst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l"/>
            <a:r>
              <a:rPr sz="1700" b="0">
                <a:solidFill>
                  <a:schemeClr val="bg1"/>
                </a:solidFill>
                <a:latin typeface="Consolas"/>
              </a:rPr>
              <a:t>var sat = Stopwatch.StartNew();</a:t>
            </a:r>
          </a:p>
          <a:p>
            <a:pPr algn="l"/>
            <a:r>
              <a:rPr sz="1700" b="0">
                <a:solidFill>
                  <a:schemeClr val="bg1"/>
                </a:solidFill>
                <a:latin typeface="Consolas"/>
              </a:rPr>
              <a:t>long zbroj = Zbroji(1, N);</a:t>
            </a:r>
          </a:p>
          <a:p>
            <a:pPr algn="l"/>
            <a:r>
              <a:rPr sz="1700" b="0">
                <a:solidFill>
                  <a:schemeClr val="bg1"/>
                </a:solidFill>
                <a:latin typeface="Consolas"/>
              </a:rPr>
              <a:t>sat.Stop();</a:t>
            </a:r>
          </a:p>
          <a:p>
            <a:pPr algn="l"/>
            <a:r>
              <a:rPr sz="1700" b="0">
                <a:solidFill>
                  <a:schemeClr val="bg1"/>
                </a:solidFill>
                <a:latin typeface="Consolas"/>
              </a:rPr>
              <a:t>Console.WriteLine(sat.ElapsedMilliseconds);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949440" y="1645920"/>
            <a:ext cx="4480560" cy="4206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85750" indent="-285750">
              <a:spcAft>
                <a:spcPts val="1000"/>
              </a:spcAft>
              <a:buChar char="•"/>
            </a:pPr>
            <a:r>
              <a:rPr sz="1800">
                <a:solidFill>
                  <a:schemeClr val="tx1"/>
                </a:solidFill>
              </a:rPr>
              <a:t>Stopwatch mjeri protekle milisekunde.</a:t>
            </a:r>
          </a:p>
          <a:p>
            <a:pPr marL="285750" indent="-285750">
              <a:spcAft>
                <a:spcPts val="1000"/>
              </a:spcAft>
              <a:buChar char="•"/>
            </a:pPr>
            <a:r>
              <a:rPr sz="1800">
                <a:solidFill>
                  <a:schemeClr val="tx1"/>
                </a:solidFill>
              </a:rPr>
              <a:t>Mjerite u Release konfiguraciji: Debug je znatno sporiji i nepouzdan.</a:t>
            </a:r>
          </a:p>
          <a:p>
            <a:pPr marL="285750" indent="-285750">
              <a:spcAft>
                <a:spcPts val="1000"/>
              </a:spcAft>
              <a:buChar char="•"/>
            </a:pPr>
            <a:r>
              <a:rPr sz="1800">
                <a:solidFill>
                  <a:schemeClr val="tx1"/>
                </a:solidFill>
              </a:rPr>
              <a:t>Broj jezgri računala: Environment.ProcessorCount.</a:t>
            </a:r>
          </a:p>
          <a:p>
            <a:pPr marL="285750" indent="-285750">
              <a:spcAft>
                <a:spcPts val="1000"/>
              </a:spcAft>
              <a:buChar char="•"/>
            </a:pPr>
            <a:r>
              <a:rPr sz="1800">
                <a:solidFill>
                  <a:schemeClr val="tx1"/>
                </a:solidFill>
              </a:rPr>
              <a:t>Mjerenje ponovite nekoliko puta: prvo je često sporije.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971306"/>
          </a:xfrm>
        </p:spPr>
        <p:txBody>
          <a:bodyPr/>
          <a:lstStyle/>
          <a:p>
            <a:r>
              <a:t>Ubrzanje i učinkovitost</a:t>
            </a:r>
          </a:p>
        </p:txBody>
      </p:sp>
      <p:sp>
        <p:nvSpPr>
          <p:cNvPr id="3" name="Formula card"/>
          <p:cNvSpPr/>
          <p:nvPr/>
        </p:nvSpPr>
        <p:spPr>
          <a:xfrm>
            <a:off x="841248" y="1554480"/>
            <a:ext cx="5394960" cy="2103120"/>
          </a:xfrm>
          <a:prstGeom prst="roundRect">
            <a:avLst>
              <a:gd name="adj" fmla="val 8000"/>
            </a:avLst>
          </a:prstGeom>
          <a:solidFill>
            <a:schemeClr val="accent1">
              <a:lumMod val="12000"/>
              <a:lumOff val="88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691640"/>
            <a:ext cx="49377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chemeClr val="accent1"/>
                </a:solidFill>
              </a:rPr>
              <a:t>Ubrzanje i učinkovitost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94560"/>
            <a:ext cx="493776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100" b="1">
                <a:solidFill>
                  <a:schemeClr val="tx1"/>
                </a:solidFill>
                <a:latin typeface="Consolas"/>
              </a:rPr>
              <a:t>S = T(slijedno) / T(k taskova)</a:t>
            </a:r>
          </a:p>
          <a:p>
            <a:pPr algn="l"/>
            <a:r>
              <a:rPr sz="2100" b="1">
                <a:solidFill>
                  <a:schemeClr val="tx1"/>
                </a:solidFill>
                <a:latin typeface="Consolas"/>
              </a:rPr>
              <a:t>E = S / 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0" y="1554480"/>
            <a:ext cx="4846320" cy="3840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85750" indent="-285750">
              <a:spcAft>
                <a:spcPts val="1000"/>
              </a:spcAft>
              <a:buChar char="•"/>
            </a:pPr>
            <a:r>
              <a:rPr sz="1800">
                <a:solidFill>
                  <a:schemeClr val="tx1"/>
                </a:solidFill>
              </a:rPr>
              <a:t>S pokazuje koliko je puta program brži.</a:t>
            </a:r>
          </a:p>
          <a:p>
            <a:pPr marL="285750" indent="-285750">
              <a:spcAft>
                <a:spcPts val="1000"/>
              </a:spcAft>
              <a:buChar char="•"/>
            </a:pPr>
            <a:r>
              <a:rPr sz="1800">
                <a:solidFill>
                  <a:schemeClr val="tx1"/>
                </a:solidFill>
              </a:rPr>
              <a:t>Idealno je S = k, a E = 1 (100 %).</a:t>
            </a:r>
          </a:p>
          <a:p>
            <a:pPr marL="285750" indent="-285750">
              <a:spcAft>
                <a:spcPts val="1000"/>
              </a:spcAft>
              <a:buChar char="•"/>
            </a:pPr>
            <a:r>
              <a:rPr sz="1800">
                <a:solidFill>
                  <a:schemeClr val="tx1"/>
                </a:solidFill>
              </a:rPr>
              <a:t>Stvarno je S manji od k: posao se dijeli, taskovi se pokreću i čekaju.</a:t>
            </a:r>
          </a:p>
          <a:p>
            <a:pPr marL="285750" indent="-285750">
              <a:spcAft>
                <a:spcPts val="1000"/>
              </a:spcAft>
              <a:buChar char="•"/>
            </a:pPr>
            <a:r>
              <a:rPr sz="1800">
                <a:solidFill>
                  <a:schemeClr val="tx1"/>
                </a:solidFill>
              </a:rPr>
              <a:t>Kad je k veći od broja jezgri, S više ne raste.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4023360"/>
            <a:ext cx="5394960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0">
                <a:solidFill>
                  <a:schemeClr val="tx1"/>
                </a:solidFill>
              </a:rPr>
              <a:t>Primjer: slijedno 256 ms, 4 taska 70 ms.</a:t>
            </a:r>
          </a:p>
          <a:p>
            <a:pPr algn="l"/>
            <a:r>
              <a:rPr sz="1900" b="0">
                <a:solidFill>
                  <a:schemeClr val="tx1"/>
                </a:solidFill>
              </a:rPr>
              <a:t>S = 256 / 70 ≈ 3,66</a:t>
            </a:r>
          </a:p>
          <a:p>
            <a:pPr algn="l"/>
            <a:r>
              <a:rPr sz="1900" b="0">
                <a:solidFill>
                  <a:schemeClr val="tx1"/>
                </a:solidFill>
              </a:rPr>
              <a:t>E = 3,66 / 4 ≈ 0,91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971306"/>
          </a:xfrm>
        </p:spPr>
        <p:txBody>
          <a:bodyPr/>
          <a:lstStyle/>
          <a:p>
            <a:r>
              <a:t>Parallel.For: petlja na više niti</a:t>
            </a:r>
          </a:p>
        </p:txBody>
      </p:sp>
      <p:sp>
        <p:nvSpPr>
          <p:cNvPr id="3" name="Code pfor"/>
          <p:cNvSpPr/>
          <p:nvPr/>
        </p:nvSpPr>
        <p:spPr>
          <a:xfrm>
            <a:off x="841248" y="1645920"/>
            <a:ext cx="5394960" cy="2103120"/>
          </a:xfrm>
          <a:prstGeom prst="roundRect">
            <a:avLst>
              <a:gd name="adj" fmla="val 4000"/>
            </a:avLst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l"/>
            <a:r>
              <a:rPr sz="1900" b="0">
                <a:solidFill>
                  <a:schemeClr val="bg1"/>
                </a:solidFill>
                <a:latin typeface="Consolas"/>
              </a:rPr>
              <a:t>Parallel.For(0, n, i =&gt;</a:t>
            </a:r>
          </a:p>
          <a:p>
            <a:pPr algn="l"/>
            <a:r>
              <a:rPr sz="1900" b="0">
                <a:solidFill>
                  <a:schemeClr val="bg1"/>
                </a:solidFill>
                <a:latin typeface="Consolas"/>
              </a:rPr>
              <a:t>{</a:t>
            </a:r>
          </a:p>
          <a:p>
            <a:pPr algn="l"/>
            <a:r>
              <a:rPr sz="1900" b="0">
                <a:solidFill>
                  <a:schemeClr val="bg1"/>
                </a:solidFill>
                <a:latin typeface="Consolas"/>
              </a:rPr>
              <a:t>    // tijelo za svaki i</a:t>
            </a:r>
          </a:p>
          <a:p>
            <a:pPr algn="l"/>
            <a:r>
              <a:rPr sz="1900" b="0">
                <a:solidFill>
                  <a:schemeClr val="bg1"/>
                </a:solidFill>
                <a:latin typeface="Consolas"/>
              </a:rPr>
              <a:t>});</a:t>
            </a:r>
          </a:p>
        </p:txBody>
      </p:sp>
      <p:sp>
        <p:nvSpPr>
          <p:cNvPr id="4" name="Code for"/>
          <p:cNvSpPr/>
          <p:nvPr/>
        </p:nvSpPr>
        <p:spPr>
          <a:xfrm>
            <a:off x="841248" y="3931920"/>
            <a:ext cx="5394960" cy="1097280"/>
          </a:xfrm>
          <a:prstGeom prst="roundRect">
            <a:avLst>
              <a:gd name="adj" fmla="val 4000"/>
            </a:avLst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l"/>
            <a:r>
              <a:rPr sz="1700" b="0">
                <a:solidFill>
                  <a:schemeClr val="bg1"/>
                </a:solidFill>
                <a:latin typeface="Consolas"/>
              </a:rPr>
              <a:t>for (int i = 0; i &lt; n; i++)</a:t>
            </a:r>
          </a:p>
          <a:p>
            <a:pPr algn="l"/>
            <a:r>
              <a:rPr sz="1700" b="0">
                <a:solidFill>
                  <a:schemeClr val="bg1"/>
                </a:solidFill>
                <a:latin typeface="Consolas"/>
              </a:rPr>
              <a:t>    // tijelo za svaki 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5120640"/>
            <a:ext cx="53949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chemeClr val="tx2"/>
                </a:solidFill>
              </a:rPr>
              <a:t>Obična petlja for, za usporedbu: iteracije idu jedna za drugom.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0" y="1645920"/>
            <a:ext cx="4846320" cy="4206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85750" indent="-285750">
              <a:spcAft>
                <a:spcPts val="1000"/>
              </a:spcAft>
              <a:buChar char="•"/>
            </a:pPr>
            <a:r>
              <a:rPr sz="1800">
                <a:solidFill>
                  <a:schemeClr val="tx1"/>
                </a:solidFill>
              </a:rPr>
              <a:t>Prvi argument je početak (uključen), drugi kraj (isključen).</a:t>
            </a:r>
          </a:p>
          <a:p>
            <a:pPr marL="285750" indent="-285750">
              <a:spcAft>
                <a:spcPts val="1000"/>
              </a:spcAft>
              <a:buChar char="•"/>
            </a:pPr>
            <a:r>
              <a:rPr sz="1800">
                <a:solidFill>
                  <a:schemeClr val="tx1"/>
                </a:solidFill>
              </a:rPr>
              <a:t>Tijelo je lambda s parametrom i.</a:t>
            </a:r>
          </a:p>
          <a:p>
            <a:pPr marL="285750" indent="-285750">
              <a:spcAft>
                <a:spcPts val="1000"/>
              </a:spcAft>
              <a:buChar char="•"/>
            </a:pPr>
            <a:r>
              <a:rPr sz="1800">
                <a:solidFill>
                  <a:schemeClr val="tx1"/>
                </a:solidFill>
              </a:rPr>
              <a:t>Iteracije se raspoređuju na više niti, pa redoslijed nije zajamčen.</a:t>
            </a:r>
          </a:p>
          <a:p>
            <a:pPr marL="285750" indent="-285750">
              <a:spcAft>
                <a:spcPts val="1000"/>
              </a:spcAft>
              <a:buChar char="•"/>
            </a:pPr>
            <a:r>
              <a:rPr sz="1800">
                <a:solidFill>
                  <a:schemeClr val="tx1"/>
                </a:solidFill>
              </a:rPr>
              <a:t>Poziv završava tek kad su sve iteracije gotove, pa nakon petlje možemo čitati rezultate.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971306"/>
          </a:xfrm>
        </p:spPr>
        <p:txBody>
          <a:bodyPr/>
          <a:lstStyle/>
          <a:p>
            <a:r>
              <a:t>Data race: kako nastaje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41248" y="1371600"/>
            <a:ext cx="106070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1">
                <a:solidFill>
                  <a:schemeClr val="tx2"/>
                </a:solidFill>
              </a:rPr>
              <a:t>brojac++ izgleda kao jedna naredba, a zapravo su tri koraka: čitaj, povećaj, upiši.</a:t>
            </a:r>
          </a:p>
        </p:txBody>
      </p:sp>
      <p:sp>
        <p:nvSpPr>
          <p:cNvPr id="4" name="Tag Task A"/>
          <p:cNvSpPr/>
          <p:nvPr/>
        </p:nvSpPr>
        <p:spPr>
          <a:xfrm>
            <a:off x="841248" y="2148840"/>
            <a:ext cx="2011680" cy="411480"/>
          </a:xfrm>
          <a:prstGeom prst="roundRect">
            <a:avLst>
              <a:gd name="adj" fmla="val 50000"/>
            </a:avLst>
          </a:prstGeom>
          <a:solidFill>
            <a:schemeClr val="accent1">
              <a:lumMod val="7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500" b="1">
                <a:solidFill>
                  <a:schemeClr val="bg1"/>
                </a:solidFill>
              </a:rPr>
              <a:t>Task A</a:t>
            </a:r>
          </a:p>
        </p:txBody>
      </p:sp>
      <p:sp>
        <p:nvSpPr>
          <p:cNvPr id="5" name="Tag Task B"/>
          <p:cNvSpPr/>
          <p:nvPr/>
        </p:nvSpPr>
        <p:spPr>
          <a:xfrm>
            <a:off x="6263640" y="2148840"/>
            <a:ext cx="2011680" cy="411480"/>
          </a:xfrm>
          <a:prstGeom prst="roundRect">
            <a:avLst>
              <a:gd name="adj" fmla="val 50000"/>
            </a:avLst>
          </a:prstGeom>
          <a:solidFill>
            <a:schemeClr val="accent2">
              <a:lumMod val="7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500" b="1">
                <a:solidFill>
                  <a:schemeClr val="bg1"/>
                </a:solidFill>
              </a:rPr>
              <a:t>Task B</a:t>
            </a:r>
          </a:p>
        </p:txBody>
      </p:sp>
      <p:sp>
        <p:nvSpPr>
          <p:cNvPr id="6" name="A1"/>
          <p:cNvSpPr/>
          <p:nvPr/>
        </p:nvSpPr>
        <p:spPr>
          <a:xfrm>
            <a:off x="841248" y="2743200"/>
            <a:ext cx="5029200" cy="548640"/>
          </a:xfrm>
          <a:prstGeom prst="roundRect">
            <a:avLst>
              <a:gd name="adj" fmla="val 12000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700" b="0">
                <a:solidFill>
                  <a:schemeClr val="tx1"/>
                </a:solidFill>
              </a:rPr>
              <a:t>čita brojac: 5</a:t>
            </a:r>
          </a:p>
        </p:txBody>
      </p:sp>
      <p:sp>
        <p:nvSpPr>
          <p:cNvPr id="7" name="B1"/>
          <p:cNvSpPr/>
          <p:nvPr/>
        </p:nvSpPr>
        <p:spPr>
          <a:xfrm>
            <a:off x="6263640" y="2743200"/>
            <a:ext cx="5029200" cy="548640"/>
          </a:xfrm>
          <a:prstGeom prst="roundRect">
            <a:avLst>
              <a:gd name="adj" fmla="val 12000"/>
            </a:avLst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700" b="0">
                <a:solidFill>
                  <a:schemeClr val="tx1"/>
                </a:solidFill>
              </a:rPr>
              <a:t>čita brojac: 5</a:t>
            </a:r>
          </a:p>
        </p:txBody>
      </p:sp>
      <p:sp>
        <p:nvSpPr>
          <p:cNvPr id="8" name="A2"/>
          <p:cNvSpPr/>
          <p:nvPr/>
        </p:nvSpPr>
        <p:spPr>
          <a:xfrm>
            <a:off x="841248" y="3429000"/>
            <a:ext cx="5029200" cy="548640"/>
          </a:xfrm>
          <a:prstGeom prst="roundRect">
            <a:avLst>
              <a:gd name="adj" fmla="val 12000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700" b="0">
                <a:solidFill>
                  <a:schemeClr val="tx1"/>
                </a:solidFill>
              </a:rPr>
              <a:t>računa 5 + 1 = 6</a:t>
            </a:r>
          </a:p>
        </p:txBody>
      </p:sp>
      <p:sp>
        <p:nvSpPr>
          <p:cNvPr id="9" name="B2"/>
          <p:cNvSpPr/>
          <p:nvPr/>
        </p:nvSpPr>
        <p:spPr>
          <a:xfrm>
            <a:off x="6263640" y="3429000"/>
            <a:ext cx="5029200" cy="548640"/>
          </a:xfrm>
          <a:prstGeom prst="roundRect">
            <a:avLst>
              <a:gd name="adj" fmla="val 12000"/>
            </a:avLst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700" b="0">
                <a:solidFill>
                  <a:schemeClr val="tx1"/>
                </a:solidFill>
              </a:rPr>
              <a:t>računa 5 + 1 = 6</a:t>
            </a:r>
          </a:p>
        </p:txBody>
      </p:sp>
      <p:sp>
        <p:nvSpPr>
          <p:cNvPr id="10" name="A3"/>
          <p:cNvSpPr/>
          <p:nvPr/>
        </p:nvSpPr>
        <p:spPr>
          <a:xfrm>
            <a:off x="841248" y="4114800"/>
            <a:ext cx="5029200" cy="548640"/>
          </a:xfrm>
          <a:prstGeom prst="roundRect">
            <a:avLst>
              <a:gd name="adj" fmla="val 12000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700" b="0">
                <a:solidFill>
                  <a:schemeClr val="tx1"/>
                </a:solidFill>
              </a:rPr>
              <a:t>upisuje 6</a:t>
            </a:r>
          </a:p>
        </p:txBody>
      </p:sp>
      <p:sp>
        <p:nvSpPr>
          <p:cNvPr id="11" name="B3"/>
          <p:cNvSpPr/>
          <p:nvPr/>
        </p:nvSpPr>
        <p:spPr>
          <a:xfrm>
            <a:off x="6263640" y="4114800"/>
            <a:ext cx="5029200" cy="548640"/>
          </a:xfrm>
          <a:prstGeom prst="roundRect">
            <a:avLst>
              <a:gd name="adj" fmla="val 12000"/>
            </a:avLst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700" b="0">
                <a:solidFill>
                  <a:schemeClr val="tx1"/>
                </a:solidFill>
              </a:rPr>
              <a:t>upisuje 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8" y="4937760"/>
            <a:ext cx="1060704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0">
                <a:solidFill>
                  <a:schemeClr val="tx1"/>
                </a:solidFill>
              </a:rPr>
              <a:t>Oba taska pročitala su 5 prije nego što je netko upisao rezultat. Brojač je nakon dva povećanja 6, a ne 7: jedno povećanje je izgubljeno.</a:t>
            </a:r>
          </a:p>
          <a:p>
            <a:pPr algn="l">
              <a:spcAft>
                <a:spcPts val="600"/>
              </a:spcAft>
            </a:pPr>
            <a:r>
              <a:rPr sz="1700" b="0">
                <a:solidFill>
                  <a:schemeClr val="tx1"/>
                </a:solidFill>
              </a:rPr>
              <a:t>Rezultat ovisi o tome kako se koraci isprepletu, pa se mijenja od pokretanja do pokretanja.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971306"/>
          </a:xfrm>
        </p:spPr>
        <p:txBody>
          <a:bodyPr/>
          <a:lstStyle/>
          <a:p>
            <a:r>
              <a:t>Kada je Parallel.For siguran</a:t>
            </a:r>
          </a:p>
        </p:txBody>
      </p:sp>
      <p:sp>
        <p:nvSpPr>
          <p:cNvPr id="3" name="Tag Nezavisne iteracije"/>
          <p:cNvSpPr/>
          <p:nvPr/>
        </p:nvSpPr>
        <p:spPr>
          <a:xfrm>
            <a:off x="841248" y="1463040"/>
            <a:ext cx="2377440" cy="411480"/>
          </a:xfrm>
          <a:prstGeom prst="roundRect">
            <a:avLst>
              <a:gd name="adj" fmla="val 50000"/>
            </a:avLst>
          </a:prstGeom>
          <a:solidFill>
            <a:schemeClr val="accent3">
              <a:lumMod val="7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500" b="1">
                <a:solidFill>
                  <a:schemeClr val="bg1"/>
                </a:solidFill>
              </a:rPr>
              <a:t>Nezavisne iteracije</a:t>
            </a:r>
          </a:p>
        </p:txBody>
      </p:sp>
      <p:sp>
        <p:nvSpPr>
          <p:cNvPr id="4" name="Code 0"/>
          <p:cNvSpPr/>
          <p:nvPr/>
        </p:nvSpPr>
        <p:spPr>
          <a:xfrm>
            <a:off x="841248" y="2011680"/>
            <a:ext cx="5166360" cy="2286000"/>
          </a:xfrm>
          <a:prstGeom prst="roundRect">
            <a:avLst>
              <a:gd name="adj" fmla="val 4000"/>
            </a:avLst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l"/>
            <a:r>
              <a:rPr sz="1800" b="0">
                <a:solidFill>
                  <a:schemeClr val="bg1"/>
                </a:solidFill>
                <a:latin typeface="Consolas"/>
              </a:rPr>
              <a:t>Parallel.For(0, n, i =&gt;</a:t>
            </a:r>
          </a:p>
          <a:p>
            <a:pPr algn="l"/>
            <a:r>
              <a:rPr sz="1800" b="0">
                <a:solidFill>
                  <a:schemeClr val="bg1"/>
                </a:solidFill>
                <a:latin typeface="Consolas"/>
              </a:rPr>
              <a:t>{</a:t>
            </a:r>
          </a:p>
          <a:p>
            <a:pPr algn="l"/>
            <a:r>
              <a:rPr sz="1800" b="0">
                <a:solidFill>
                  <a:schemeClr val="bg1"/>
                </a:solidFill>
                <a:latin typeface="Consolas"/>
              </a:rPr>
              <a:t>    b[i] = a[i] * 2;</a:t>
            </a:r>
          </a:p>
          <a:p>
            <a:pPr algn="l"/>
            <a:r>
              <a:rPr sz="1800" b="0">
                <a:solidFill>
                  <a:schemeClr val="bg1"/>
                </a:solidFill>
                <a:latin typeface="Consolas"/>
              </a:rPr>
              <a:t>});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4480560"/>
            <a:ext cx="516636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>
                <a:solidFill>
                  <a:schemeClr val="tx1"/>
                </a:solidFill>
              </a:rPr>
              <a:t>Svaka iteracija piše u svoj element. Nitko nikome ne smeta.</a:t>
            </a:r>
          </a:p>
        </p:txBody>
      </p:sp>
      <p:sp>
        <p:nvSpPr>
          <p:cNvPr id="6" name="Tag Zavisne iteracije"/>
          <p:cNvSpPr/>
          <p:nvPr/>
        </p:nvSpPr>
        <p:spPr>
          <a:xfrm>
            <a:off x="6281928" y="1463040"/>
            <a:ext cx="2377440" cy="411480"/>
          </a:xfrm>
          <a:prstGeom prst="roundRect">
            <a:avLst>
              <a:gd name="adj" fmla="val 50000"/>
            </a:avLst>
          </a:prstGeom>
          <a:solidFill>
            <a:schemeClr val="accent2">
              <a:lumMod val="7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500" b="1">
                <a:solidFill>
                  <a:schemeClr val="bg1"/>
                </a:solidFill>
              </a:rPr>
              <a:t>Zavisne iteracije</a:t>
            </a:r>
          </a:p>
        </p:txBody>
      </p:sp>
      <p:sp>
        <p:nvSpPr>
          <p:cNvPr id="7" name="Code 1"/>
          <p:cNvSpPr/>
          <p:nvPr/>
        </p:nvSpPr>
        <p:spPr>
          <a:xfrm>
            <a:off x="6281928" y="2011680"/>
            <a:ext cx="5166360" cy="2286000"/>
          </a:xfrm>
          <a:prstGeom prst="roundRect">
            <a:avLst>
              <a:gd name="adj" fmla="val 4000"/>
            </a:avLst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l"/>
            <a:r>
              <a:rPr sz="1800" b="0">
                <a:solidFill>
                  <a:schemeClr val="bg1"/>
                </a:solidFill>
                <a:latin typeface="Consolas"/>
              </a:rPr>
              <a:t>long zbroj = 0;</a:t>
            </a:r>
          </a:p>
          <a:p>
            <a:pPr algn="l"/>
            <a:r>
              <a:rPr sz="1800" b="0">
                <a:solidFill>
                  <a:schemeClr val="bg1"/>
                </a:solidFill>
                <a:latin typeface="Consolas"/>
              </a:rPr>
              <a:t>Parallel.For(0, n, i =&gt;</a:t>
            </a:r>
          </a:p>
          <a:p>
            <a:pPr algn="l"/>
            <a:r>
              <a:rPr sz="1800" b="0">
                <a:solidFill>
                  <a:schemeClr val="bg1"/>
                </a:solidFill>
                <a:latin typeface="Consolas"/>
              </a:rPr>
              <a:t>{</a:t>
            </a:r>
          </a:p>
          <a:p>
            <a:pPr algn="l"/>
            <a:r>
              <a:rPr sz="1800" b="0">
                <a:solidFill>
                  <a:schemeClr val="bg1"/>
                </a:solidFill>
                <a:latin typeface="Consolas"/>
              </a:rPr>
              <a:t>    zbroj += a[i];</a:t>
            </a:r>
          </a:p>
          <a:p>
            <a:pPr algn="l"/>
            <a:r>
              <a:rPr sz="1800" b="0">
                <a:solidFill>
                  <a:schemeClr val="bg1"/>
                </a:solidFill>
                <a:latin typeface="Consolas"/>
              </a:rPr>
              <a:t>});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81928" y="4480560"/>
            <a:ext cx="516636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>
                <a:solidFill>
                  <a:schemeClr val="tx1"/>
                </a:solidFill>
              </a:rPr>
              <a:t>Sve iteracije čitaju i pišu istu varijablu: data race.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" y="5669280"/>
            <a:ext cx="106070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>
                <a:solidFill>
                  <a:schemeClr val="tx2"/>
                </a:solidFill>
              </a:rPr>
              <a:t>Pitanje prije paralelizacije: smiju li se iteracije izvršiti istodobno i u bilo kojem redoslijedu?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971306"/>
          </a:xfrm>
        </p:spPr>
        <p:txBody>
          <a:bodyPr/>
          <a:lstStyle/>
          <a:p>
            <a:r>
              <a:t>Lokalna varijabla i polje rezultata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41248" y="1371600"/>
            <a:ext cx="106070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>
                <a:solidFill>
                  <a:schemeClr val="tx2"/>
                </a:solidFill>
              </a:rPr>
              <a:t>Primjer na drugom problemu: koliko ima parnih brojeva u nizu, računano po dijelovima.</a:t>
            </a:r>
          </a:p>
        </p:txBody>
      </p:sp>
      <p:sp>
        <p:nvSpPr>
          <p:cNvPr id="4" name="Code partial"/>
          <p:cNvSpPr/>
          <p:nvPr/>
        </p:nvSpPr>
        <p:spPr>
          <a:xfrm>
            <a:off x="841248" y="1965960"/>
            <a:ext cx="6400800" cy="3566160"/>
          </a:xfrm>
          <a:prstGeom prst="roundRect">
            <a:avLst>
              <a:gd name="adj" fmla="val 4000"/>
            </a:avLst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l"/>
            <a:r>
              <a:rPr sz="1500" b="0">
                <a:solidFill>
                  <a:schemeClr val="bg1"/>
                </a:solidFill>
                <a:latin typeface="Consolas"/>
              </a:rPr>
              <a:t>var rez = new int[k];</a:t>
            </a:r>
          </a:p>
          <a:p>
            <a:pPr algn="l"/>
            <a:r>
              <a:rPr sz="1500" b="0">
                <a:solidFill>
                  <a:schemeClr val="bg1"/>
                </a:solidFill>
                <a:latin typeface="Consolas"/>
              </a:rPr>
              <a:t>Parallel.For(0, k, j =&gt;</a:t>
            </a:r>
          </a:p>
          <a:p>
            <a:pPr algn="l"/>
            <a:r>
              <a:rPr sz="1500" b="0">
                <a:solidFill>
                  <a:schemeClr val="bg1"/>
                </a:solidFill>
                <a:latin typeface="Consolas"/>
              </a:rPr>
              <a:t>{</a:t>
            </a:r>
          </a:p>
          <a:p>
            <a:pPr algn="l"/>
            <a:r>
              <a:rPr sz="1500" b="0">
                <a:solidFill>
                  <a:schemeClr val="bg1"/>
                </a:solidFill>
                <a:latin typeface="Consolas"/>
              </a:rPr>
              <a:t>    int brojim = 0;          // lokalna za ovaj dio</a:t>
            </a:r>
          </a:p>
          <a:p>
            <a:pPr algn="l"/>
            <a:r>
              <a:rPr sz="1500" b="0">
                <a:solidFill>
                  <a:schemeClr val="bg1"/>
                </a:solidFill>
                <a:latin typeface="Consolas"/>
              </a:rPr>
              <a:t>    for (int i = od(j); i &lt; do_(j); i++)</a:t>
            </a:r>
          </a:p>
          <a:p>
            <a:pPr algn="l"/>
            <a:r>
              <a:rPr sz="1500" b="0">
                <a:solidFill>
                  <a:schemeClr val="bg1"/>
                </a:solidFill>
                <a:latin typeface="Consolas"/>
              </a:rPr>
              <a:t>        if (niz[i] % 2 == 0) brojim++;</a:t>
            </a:r>
          </a:p>
          <a:p>
            <a:pPr algn="l"/>
            <a:r>
              <a:rPr sz="1500" b="0">
                <a:solidFill>
                  <a:schemeClr val="bg1"/>
                </a:solidFill>
                <a:latin typeface="Consolas"/>
              </a:rPr>
              <a:t>    rez[j] = brojim;         // piše u svoj element</a:t>
            </a:r>
          </a:p>
          <a:p>
            <a:pPr algn="l"/>
            <a:r>
              <a:rPr sz="1500" b="0">
                <a:solidFill>
                  <a:schemeClr val="bg1"/>
                </a:solidFill>
                <a:latin typeface="Consolas"/>
              </a:rPr>
              <a:t>});</a:t>
            </a:r>
          </a:p>
          <a:p>
            <a:pPr algn="l"/>
            <a:r>
              <a:rPr sz="1500" b="0">
                <a:solidFill>
                  <a:schemeClr val="bg1"/>
                </a:solidFill>
                <a:latin typeface="Consolas"/>
              </a:rPr>
              <a:t>int ukupno = rez.Sum();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79" y="1965960"/>
            <a:ext cx="3931920" cy="3840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85750" indent="-285750">
              <a:spcAft>
                <a:spcPts val="1000"/>
              </a:spcAft>
              <a:buChar char="•"/>
            </a:pPr>
            <a:r>
              <a:rPr sz="1700">
                <a:solidFill>
                  <a:schemeClr val="tx1"/>
                </a:solidFill>
              </a:rPr>
              <a:t>Varijabla deklarirana unutar lambde je zasebna za svaku iteraciju.</a:t>
            </a:r>
          </a:p>
          <a:p>
            <a:pPr marL="285750" indent="-285750">
              <a:spcAft>
                <a:spcPts val="1000"/>
              </a:spcAft>
              <a:buChar char="•"/>
            </a:pPr>
            <a:r>
              <a:rPr sz="1700">
                <a:solidFill>
                  <a:schemeClr val="tx1"/>
                </a:solidFill>
              </a:rPr>
              <a:t>Polje ima po jedan element za svaki dio, pa nitko ne piše u tuđi element.</a:t>
            </a:r>
          </a:p>
          <a:p>
            <a:pPr marL="285750" indent="-285750">
              <a:spcAft>
                <a:spcPts val="1000"/>
              </a:spcAft>
              <a:buChar char="•"/>
            </a:pPr>
            <a:r>
              <a:rPr sz="1700">
                <a:solidFill>
                  <a:schemeClr val="tx1"/>
                </a:solidFill>
              </a:rPr>
              <a:t>Rezultate zbrajamo tek nakon petlje: Sum() ili obična petlja.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5760720"/>
            <a:ext cx="106070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chemeClr val="tx2"/>
                </a:solidFill>
              </a:rPr>
              <a:t>od(j) i do_(j) su granice dijela j, izračunate kao na slajdu o podjeli raspona.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971306"/>
          </a:xfrm>
        </p:spPr>
        <p:txBody>
          <a:bodyPr/>
          <a:lstStyle/>
          <a:p>
            <a:r>
              <a:t>Zadatak 1: Paralelno&lt;T, U&gt;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41248" y="1371600"/>
            <a:ext cx="106070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>
                <a:solidFill>
                  <a:schemeClr val="tx2"/>
                </a:solidFill>
              </a:rPr>
              <a:t>Zadano: funkcije f (zbroj od 1 do 3·10⁹, long) i g (broj prostih brojeva do 3·10⁶, int) te njihov slijedni poziv.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1965960"/>
            <a:ext cx="6035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chemeClr val="accent1"/>
                </a:solidFill>
              </a:rPr>
              <a:t>Što trebate napraviti</a:t>
            </a:r>
          </a:p>
        </p:txBody>
      </p:sp>
      <p:sp>
        <p:nvSpPr>
          <p:cNvPr id="5" name="Step 1"/>
          <p:cNvSpPr/>
          <p:nvPr/>
        </p:nvSpPr>
        <p:spPr>
          <a:xfrm>
            <a:off x="841248" y="2468880"/>
            <a:ext cx="457200" cy="457200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700" b="1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63040" y="2450592"/>
            <a:ext cx="996696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>
                <a:solidFill>
                  <a:schemeClr val="tx1"/>
                </a:solidFill>
              </a:rPr>
              <a:t>Napišite metodu (T, U) Paralelno&lt;T, U&gt;(Func&lt;T&gt; f, Func&lt;U&gt; g) koja izvodi f i g istodobno, svaku u svom tasku, i vraća oba rezultata.</a:t>
            </a:r>
          </a:p>
        </p:txBody>
      </p:sp>
      <p:sp>
        <p:nvSpPr>
          <p:cNvPr id="7" name="Step 2"/>
          <p:cNvSpPr/>
          <p:nvPr/>
        </p:nvSpPr>
        <p:spPr>
          <a:xfrm>
            <a:off x="841248" y="3246120"/>
            <a:ext cx="457200" cy="457200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700" b="1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" y="3227832"/>
            <a:ext cx="996696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>
                <a:solidFill>
                  <a:schemeClr val="tx1"/>
                </a:solidFill>
              </a:rPr>
              <a:t>Pozovite je s f i g. Rezultati moraju biti jednaki slijednima.</a:t>
            </a:r>
          </a:p>
        </p:txBody>
      </p:sp>
      <p:sp>
        <p:nvSpPr>
          <p:cNvPr id="9" name="Step 3"/>
          <p:cNvSpPr/>
          <p:nvPr/>
        </p:nvSpPr>
        <p:spPr>
          <a:xfrm>
            <a:off x="841248" y="4023360"/>
            <a:ext cx="457200" cy="457200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700" b="1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63040" y="4005072"/>
            <a:ext cx="996696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>
                <a:solidFill>
                  <a:schemeClr val="tx1"/>
                </a:solidFill>
              </a:rPr>
              <a:t>Usporedite vrijeme sa slijednim. Koliko je najviše ubrzanje za dva posla i o čemu ovisi?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8" y="4983480"/>
            <a:ext cx="6035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chemeClr val="accent3"/>
                </a:solidFill>
              </a:rPr>
              <a:t>Primjer ispisa</a:t>
            </a:r>
          </a:p>
        </p:txBody>
      </p:sp>
      <p:sp>
        <p:nvSpPr>
          <p:cNvPr id="12" name="Code output"/>
          <p:cNvSpPr/>
          <p:nvPr/>
        </p:nvSpPr>
        <p:spPr>
          <a:xfrm>
            <a:off x="841248" y="5440680"/>
            <a:ext cx="10607040" cy="960120"/>
          </a:xfrm>
          <a:prstGeom prst="roundRect">
            <a:avLst>
              <a:gd name="adj" fmla="val 4000"/>
            </a:avLst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l"/>
            <a:r>
              <a:rPr sz="1500" b="0">
                <a:solidFill>
                  <a:schemeClr val="bg1"/>
                </a:solidFill>
                <a:latin typeface="Consolas"/>
              </a:rPr>
              <a:t>Slijedno:   f = 4500000001500000000, g = 216816  (1687 ms)</a:t>
            </a:r>
          </a:p>
          <a:p>
            <a:pPr algn="l"/>
            <a:r>
              <a:rPr sz="1500" b="0">
                <a:solidFill>
                  <a:schemeClr val="bg1"/>
                </a:solidFill>
                <a:latin typeface="Consolas"/>
              </a:rPr>
              <a:t>Paralelno:  f = 4500000001500000000, g = 216816  (831 ms)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971306"/>
          </a:xfrm>
        </p:spPr>
        <p:txBody>
          <a:bodyPr/>
          <a:lstStyle/>
          <a:p>
            <a:r>
              <a:t>Zadatak 2: zbroj na k taskova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41248" y="1371600"/>
            <a:ext cx="106070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>
                <a:solidFill>
                  <a:schemeClr val="tx2"/>
                </a:solidFill>
              </a:rPr>
              <a:t>Zadano: slijedno i jednotaskno zbrajanje brojeva od 1 do 10⁹.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1965960"/>
            <a:ext cx="6035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chemeClr val="accent1"/>
                </a:solidFill>
              </a:rPr>
              <a:t>Što trebate napraviti</a:t>
            </a:r>
          </a:p>
        </p:txBody>
      </p:sp>
      <p:sp>
        <p:nvSpPr>
          <p:cNvPr id="5" name="Step 1"/>
          <p:cNvSpPr/>
          <p:nvPr/>
        </p:nvSpPr>
        <p:spPr>
          <a:xfrm>
            <a:off x="841248" y="2468880"/>
            <a:ext cx="457200" cy="457200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700" b="1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63040" y="2450592"/>
            <a:ext cx="457200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>
                <a:solidFill>
                  <a:schemeClr val="tx1"/>
                </a:solidFill>
              </a:rPr>
              <a:t>Podijelite posao na 2, 4, 8 i 16 taskova. Provjerite da je zbroj uvijek isti.</a:t>
            </a:r>
          </a:p>
        </p:txBody>
      </p:sp>
      <p:sp>
        <p:nvSpPr>
          <p:cNvPr id="7" name="Step 2"/>
          <p:cNvSpPr/>
          <p:nvPr/>
        </p:nvSpPr>
        <p:spPr>
          <a:xfrm>
            <a:off x="841248" y="3657600"/>
            <a:ext cx="457200" cy="457200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700" b="1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" y="3639312"/>
            <a:ext cx="457200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>
                <a:solidFill>
                  <a:schemeClr val="tx1"/>
                </a:solidFill>
              </a:rPr>
              <a:t>Ispišite broj jezgri (Environment.ProcessorCount). Za svaki k uzmite najkraće od tri mjerenja i izračunajte S i S / k.</a:t>
            </a:r>
          </a:p>
        </p:txBody>
      </p:sp>
      <p:sp>
        <p:nvSpPr>
          <p:cNvPr id="9" name="Step 3"/>
          <p:cNvSpPr/>
          <p:nvPr/>
        </p:nvSpPr>
        <p:spPr>
          <a:xfrm>
            <a:off x="841248" y="4846320"/>
            <a:ext cx="457200" cy="457200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700" b="1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63040" y="4828032"/>
            <a:ext cx="457200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>
                <a:solidFill>
                  <a:schemeClr val="tx1"/>
                </a:solidFill>
              </a:rPr>
              <a:t>Isto napravite s Parallel.For. Zašto S nije jednak k?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9360" y="1965960"/>
            <a:ext cx="5120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chemeClr val="accent3"/>
                </a:solidFill>
              </a:rPr>
              <a:t>Primjer ispisa</a:t>
            </a:r>
          </a:p>
        </p:txBody>
      </p:sp>
      <p:sp>
        <p:nvSpPr>
          <p:cNvPr id="12" name="Code output"/>
          <p:cNvSpPr/>
          <p:nvPr/>
        </p:nvSpPr>
        <p:spPr>
          <a:xfrm>
            <a:off x="6309360" y="2468880"/>
            <a:ext cx="5120640" cy="2880360"/>
          </a:xfrm>
          <a:prstGeom prst="roundRect">
            <a:avLst>
              <a:gd name="adj" fmla="val 4000"/>
            </a:avLst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l"/>
            <a:r>
              <a:rPr sz="1300" b="0">
                <a:solidFill>
                  <a:schemeClr val="bg1"/>
                </a:solidFill>
                <a:latin typeface="Consolas"/>
              </a:rPr>
              <a:t>Jezgri (logičkih): 12</a:t>
            </a:r>
          </a:p>
          <a:p>
            <a:pPr algn="l"/>
            <a:r>
              <a:rPr sz="1300" b="0">
                <a:solidFill>
                  <a:schemeClr val="bg1"/>
                </a:solidFill>
                <a:latin typeface="Consolas"/>
              </a:rPr>
              <a:t>Slijedno:   500000000500000000  (256 ms)</a:t>
            </a:r>
          </a:p>
          <a:p>
            <a:pPr algn="l"/>
            <a:r>
              <a:rPr sz="1300" b="0">
                <a:solidFill>
                  <a:schemeClr val="bg1"/>
                </a:solidFill>
                <a:latin typeface="Consolas"/>
              </a:rPr>
              <a:t>1 task:     500000000500000000  (259 ms)</a:t>
            </a:r>
          </a:p>
          <a:p>
            <a:pPr algn="l"/>
            <a:r>
              <a:rPr sz="1300" b="0">
                <a:solidFill>
                  <a:schemeClr val="bg1"/>
                </a:solidFill>
                <a:latin typeface="Consolas"/>
              </a:rPr>
              <a:t>Task.Run</a:t>
            </a:r>
          </a:p>
          <a:p>
            <a:pPr algn="l"/>
            <a:r>
              <a:rPr sz="1300" b="0">
                <a:solidFill>
                  <a:schemeClr val="bg1"/>
                </a:solidFill>
                <a:latin typeface="Consolas"/>
              </a:rPr>
              <a:t>k     vrijeme     S     S/k   zbroj</a:t>
            </a:r>
          </a:p>
          <a:p>
            <a:pPr algn="l"/>
            <a:r>
              <a:rPr sz="1300" b="0">
                <a:solidFill>
                  <a:schemeClr val="bg1"/>
                </a:solidFill>
                <a:latin typeface="Consolas"/>
              </a:rPr>
              <a:t>2      131 ms    1,95   0,98   ispravan</a:t>
            </a:r>
          </a:p>
          <a:p>
            <a:pPr algn="l"/>
            <a:r>
              <a:rPr sz="1300" b="0">
                <a:solidFill>
                  <a:schemeClr val="bg1"/>
                </a:solidFill>
                <a:latin typeface="Consolas"/>
              </a:rPr>
              <a:t>4       70 ms    3,66   0,91   ispravan</a:t>
            </a:r>
          </a:p>
          <a:p>
            <a:pPr algn="l"/>
            <a:r>
              <a:rPr sz="1300" b="0">
                <a:solidFill>
                  <a:schemeClr val="bg1"/>
                </a:solidFill>
                <a:latin typeface="Consolas"/>
              </a:rPr>
              <a:t>8       46 ms    5,57   0,70   ispravan</a:t>
            </a:r>
          </a:p>
          <a:p>
            <a:pPr algn="l"/>
            <a:r>
              <a:rPr sz="1300" b="0">
                <a:solidFill>
                  <a:schemeClr val="bg1"/>
                </a:solidFill>
                <a:latin typeface="Consolas"/>
              </a:rPr>
              <a:t>16      49 ms    5,22   0,33   ispravan</a:t>
            </a:r>
          </a:p>
          <a:p>
            <a:pPr algn="l"/>
            <a:r>
              <a:rPr sz="1300" b="0">
                <a:solidFill>
                  <a:schemeClr val="bg1"/>
                </a:solidFill>
                <a:latin typeface="Consolas"/>
              </a:rPr>
              <a:t>Parallel.For   (ista tablica) …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971306"/>
          </a:xfrm>
        </p:spPr>
        <p:txBody>
          <a:bodyPr/>
          <a:lstStyle/>
          <a:p>
            <a:r>
              <a:t>Zadatak 3: zamke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41248" y="1371600"/>
            <a:ext cx="106070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>
                <a:solidFill>
                  <a:schemeClr val="tx2"/>
                </a:solidFill>
              </a:rPr>
              <a:t>Zadano: četiri programa koja se prevedu, ali ne rade ono što očekujete.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1965960"/>
            <a:ext cx="6035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chemeClr val="accent1"/>
                </a:solidFill>
              </a:rPr>
              <a:t>Što trebate napraviti</a:t>
            </a:r>
          </a:p>
        </p:txBody>
      </p:sp>
      <p:sp>
        <p:nvSpPr>
          <p:cNvPr id="5" name="Step 1"/>
          <p:cNvSpPr/>
          <p:nvPr/>
        </p:nvSpPr>
        <p:spPr>
          <a:xfrm>
            <a:off x="841248" y="2468880"/>
            <a:ext cx="457200" cy="457200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700" b="1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63040" y="2450592"/>
            <a:ext cx="996696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>
                <a:solidFill>
                  <a:schemeClr val="tx1"/>
                </a:solidFill>
              </a:rPr>
              <a:t>Zamka A: taskovi u petlji for računaju i * 10.</a:t>
            </a:r>
          </a:p>
        </p:txBody>
      </p:sp>
      <p:sp>
        <p:nvSpPr>
          <p:cNvPr id="7" name="Step 2"/>
          <p:cNvSpPr/>
          <p:nvPr/>
        </p:nvSpPr>
        <p:spPr>
          <a:xfrm>
            <a:off x="841248" y="3246120"/>
            <a:ext cx="457200" cy="457200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700" b="1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" y="3227832"/>
            <a:ext cx="996696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>
                <a:solidFill>
                  <a:schemeClr val="tx1"/>
                </a:solidFill>
              </a:rPr>
              <a:t>Zamka B: dva taska povećavaju isti brojač po 10 milijuna puta. Izmjerite i vrijeme obje verzije.</a:t>
            </a:r>
          </a:p>
        </p:txBody>
      </p:sp>
      <p:sp>
        <p:nvSpPr>
          <p:cNvPr id="9" name="Step 3"/>
          <p:cNvSpPr/>
          <p:nvPr/>
        </p:nvSpPr>
        <p:spPr>
          <a:xfrm>
            <a:off x="841248" y="4023360"/>
            <a:ext cx="457200" cy="457200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700" b="1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63040" y="4005072"/>
            <a:ext cx="996696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>
                <a:solidFill>
                  <a:schemeClr val="tx1"/>
                </a:solidFill>
              </a:rPr>
              <a:t>Zamka C: usporedite b[i] = a[i] * 2 sa zbroj += a[i]. Koja je petlja uvijek točna?</a:t>
            </a:r>
          </a:p>
        </p:txBody>
      </p:sp>
      <p:sp>
        <p:nvSpPr>
          <p:cNvPr id="11" name="Step 4"/>
          <p:cNvSpPr/>
          <p:nvPr/>
        </p:nvSpPr>
        <p:spPr>
          <a:xfrm>
            <a:off x="841248" y="4800600"/>
            <a:ext cx="457200" cy="457200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700" b="1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63040" y="4782312"/>
            <a:ext cx="996696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>
                <a:solidFill>
                  <a:schemeClr val="tx1"/>
                </a:solidFill>
              </a:rPr>
              <a:t>Zamka D: 20 objekata Entitet s jedinstvenim Id-om (0 … 19) treba ispisati redom po Id-u. Program ima dvije greške.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" y="5715000"/>
            <a:ext cx="106070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chemeClr val="tx2"/>
                </a:solidFill>
              </a:rPr>
              <a:t>Za svaku zamku: pokrenite program više puta, objasnite ispis i popravite kod.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971306"/>
          </a:xfrm>
        </p:spPr>
        <p:txBody>
          <a:bodyPr/>
          <a:lstStyle/>
          <a:p>
            <a:r>
              <a:t>Zamke: netočan i točan ispis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41248" y="1325880"/>
            <a:ext cx="106070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>
                <a:solidFill>
                  <a:schemeClr val="tx2"/>
                </a:solidFill>
                <a:latin typeface="Consolas"/>
              </a:rPr>
              <a:t>Očekivano:  A 0 10 20 30   B 20000000   C 1000000   D 0 1 2 … 19</a:t>
            </a:r>
          </a:p>
        </p:txBody>
      </p:sp>
      <p:sp>
        <p:nvSpPr>
          <p:cNvPr id="4" name="Tag Zadani kod"/>
          <p:cNvSpPr/>
          <p:nvPr/>
        </p:nvSpPr>
        <p:spPr>
          <a:xfrm>
            <a:off x="841248" y="1874519"/>
            <a:ext cx="2377440" cy="411480"/>
          </a:xfrm>
          <a:prstGeom prst="roundRect">
            <a:avLst>
              <a:gd name="adj" fmla="val 50000"/>
            </a:avLst>
          </a:prstGeom>
          <a:solidFill>
            <a:schemeClr val="accent2">
              <a:lumMod val="7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500" b="1">
                <a:solidFill>
                  <a:schemeClr val="bg1"/>
                </a:solidFill>
              </a:rPr>
              <a:t>Zadani kod</a:t>
            </a:r>
          </a:p>
        </p:txBody>
      </p:sp>
      <p:sp>
        <p:nvSpPr>
          <p:cNvPr id="5" name="Code wrong"/>
          <p:cNvSpPr/>
          <p:nvPr/>
        </p:nvSpPr>
        <p:spPr>
          <a:xfrm>
            <a:off x="841248" y="2377440"/>
            <a:ext cx="5257800" cy="2377440"/>
          </a:xfrm>
          <a:prstGeom prst="roundRect">
            <a:avLst>
              <a:gd name="adj" fmla="val 4000"/>
            </a:avLst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l"/>
            <a:r>
              <a:rPr sz="1600" b="0">
                <a:solidFill>
                  <a:schemeClr val="bg1"/>
                </a:solidFill>
                <a:latin typeface="Consolas"/>
              </a:rPr>
              <a:t>A  40 40 40 40</a:t>
            </a:r>
          </a:p>
          <a:p>
            <a:pPr algn="l"/>
            <a:r>
              <a:rPr sz="1600" b="0">
                <a:solidFill>
                  <a:schemeClr val="bg1"/>
                </a:solidFill>
                <a:latin typeface="Consolas"/>
              </a:rPr>
              <a:t>B  10070437  (21,9 ms)</a:t>
            </a:r>
          </a:p>
          <a:p>
            <a:pPr algn="l"/>
            <a:r>
              <a:rPr sz="1600" b="0">
                <a:solidFill>
                  <a:schemeClr val="bg1"/>
                </a:solidFill>
                <a:latin typeface="Consolas"/>
              </a:rPr>
              <a:t>C  petlja 2: zbroj = 86391</a:t>
            </a:r>
          </a:p>
          <a:p>
            <a:pPr algn="l"/>
            <a:r>
              <a:rPr sz="1600" b="0">
                <a:solidFill>
                  <a:schemeClr val="bg1"/>
                </a:solidFill>
                <a:latin typeface="Consolas"/>
              </a:rPr>
              <a:t>D  20 20 20 … 20</a:t>
            </a:r>
          </a:p>
        </p:txBody>
      </p:sp>
      <p:sp>
        <p:nvSpPr>
          <p:cNvPr id="6" name="Tag Nakon popravka"/>
          <p:cNvSpPr/>
          <p:nvPr/>
        </p:nvSpPr>
        <p:spPr>
          <a:xfrm>
            <a:off x="6263640" y="1874519"/>
            <a:ext cx="2377440" cy="411480"/>
          </a:xfrm>
          <a:prstGeom prst="roundRect">
            <a:avLst>
              <a:gd name="adj" fmla="val 50000"/>
            </a:avLst>
          </a:prstGeom>
          <a:solidFill>
            <a:schemeClr val="accent3">
              <a:lumMod val="7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500" b="1">
                <a:solidFill>
                  <a:schemeClr val="bg1"/>
                </a:solidFill>
              </a:rPr>
              <a:t>Nakon popravka</a:t>
            </a:r>
          </a:p>
        </p:txBody>
      </p:sp>
      <p:sp>
        <p:nvSpPr>
          <p:cNvPr id="7" name="Code right"/>
          <p:cNvSpPr/>
          <p:nvPr/>
        </p:nvSpPr>
        <p:spPr>
          <a:xfrm>
            <a:off x="6263640" y="2377440"/>
            <a:ext cx="5257800" cy="2377440"/>
          </a:xfrm>
          <a:prstGeom prst="roundRect">
            <a:avLst>
              <a:gd name="adj" fmla="val 4000"/>
            </a:avLst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l"/>
            <a:r>
              <a:rPr sz="1600" b="0">
                <a:solidFill>
                  <a:schemeClr val="bg1"/>
                </a:solidFill>
                <a:latin typeface="Consolas"/>
              </a:rPr>
              <a:t>A  0 10 20 30</a:t>
            </a:r>
          </a:p>
          <a:p>
            <a:pPr algn="l"/>
            <a:r>
              <a:rPr sz="1600" b="0">
                <a:solidFill>
                  <a:schemeClr val="bg1"/>
                </a:solidFill>
                <a:latin typeface="Consolas"/>
              </a:rPr>
              <a:t>B  20000000  (3,0 ms)</a:t>
            </a:r>
          </a:p>
          <a:p>
            <a:pPr algn="l"/>
            <a:r>
              <a:rPr sz="1600" b="0">
                <a:solidFill>
                  <a:schemeClr val="bg1"/>
                </a:solidFill>
                <a:latin typeface="Consolas"/>
              </a:rPr>
              <a:t>C  petlja 2: zbroj = 1000000</a:t>
            </a:r>
          </a:p>
          <a:p>
            <a:pPr algn="l"/>
            <a:r>
              <a:rPr sz="1600" b="0">
                <a:solidFill>
                  <a:schemeClr val="bg1"/>
                </a:solidFill>
                <a:latin typeface="Consolas"/>
              </a:rPr>
              <a:t>D  0 1 2 … 19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5029200"/>
            <a:ext cx="1060704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chemeClr val="tx2"/>
                </a:solidFill>
              </a:rPr>
              <a:t>Lijevi brojevi mijenjaju se pri svakom pokretanju. Zašto? I zašto je B bez popravka sporiji?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971306"/>
          </a:xfrm>
        </p:spPr>
        <p:txBody>
          <a:bodyPr/>
          <a:lstStyle/>
          <a:p>
            <a:r>
              <a:t>Reference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41248" y="1554480"/>
            <a:ext cx="10607040" cy="411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400" b="0">
                <a:solidFill>
                  <a:schemeClr val="tx1"/>
                </a:solidFill>
              </a:rPr>
              <a:t>[1] Microsoft Learn: Task.Run — learn.microsoft.com/en-us/dotnet/api/system.threading.tasks.task.run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chemeClr val="tx1"/>
                </a:solidFill>
              </a:rPr>
              <a:t>[2] Microsoft Learn: Data parallelism (TPL) — learn.microsoft.com/en-us/dotnet/standard/parallel-programming/data-parallelism-task-parallel-library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chemeClr val="tx1"/>
                </a:solidFill>
              </a:rPr>
              <a:t>[3] Microsoft Learn: Stopwatch — learn.microsoft.com/en-us/dotnet/api/system.diagnostics.stopwatch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chemeClr val="tx1"/>
                </a:solidFill>
              </a:rPr>
              <a:t>[4] Microsoft Learn: foreach i hvatanje varijable — learn.microsoft.com/en-us/dotnet/csharp/language-reference/statements/iteration-statements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chemeClr val="tx1"/>
                </a:solidFill>
              </a:rPr>
              <a:t>[5] Microsoft Learn: The managed thread pool — learn.microsoft.com/en-us/dotnet/standard/threading/the-managed-thread-pool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chemeClr val="tx1"/>
                </a:solidFill>
              </a:rPr>
              <a:t>[6] Microsoft Learn: Task-based asynchronous programming — learn.microsoft.com/en-us/dotnet/standard/parallel-programming/task-based-asynchronous-programming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chemeClr val="tx1"/>
                </a:solidFill>
              </a:rPr>
              <a:t>[7] Microsoft Learn: Random konstruktor, zadano sjeme — learn.microsoft.com/en-us/dotnet/api/system.random.-ctor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707</TotalTime>
  <Words>1349</Words>
  <Application>Microsoft Office PowerPoint</Application>
  <PresentationFormat>Widescreen</PresentationFormat>
  <Paragraphs>135</Paragraphs>
  <Slides>33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33</vt:i4>
      </vt:variant>
    </vt:vector>
  </HeadingPairs>
  <TitlesOfParts>
    <vt:vector size="39" baseType="lpstr">
      <vt:lpstr>Aptos</vt:lpstr>
      <vt:lpstr>Aptos Display</vt:lpstr>
      <vt:lpstr>Arial</vt:lpstr>
      <vt:lpstr>Open Sans</vt:lpstr>
      <vt:lpstr>Office Theme</vt:lpstr>
      <vt:lpstr>Custom Design</vt:lpstr>
      <vt:lpstr>Paralelno programiranje</vt:lpstr>
      <vt:lpstr>1. Paralelno izvršavanje programa</vt:lpstr>
      <vt:lpstr>Ubrzanje izračuna</vt:lpstr>
      <vt:lpstr>Paralelizam na razini strojnih instrukcija</vt:lpstr>
      <vt:lpstr>Oblici paralelizma</vt:lpstr>
      <vt:lpstr>Računalne arhitekture</vt:lpstr>
      <vt:lpstr>PowerPoint Presentation</vt:lpstr>
      <vt:lpstr>PowerPoint Presentation</vt:lpstr>
      <vt:lpstr>Sekvencijalni program</vt:lpstr>
      <vt:lpstr>Paralelni program</vt:lpstr>
      <vt:lpstr>Paralelni problem</vt:lpstr>
      <vt:lpstr>Tko koristi paralelno računanje?</vt:lpstr>
      <vt:lpstr>PowerPoint Presentation</vt:lpstr>
      <vt:lpstr>Tko koristi paralelno računanje?</vt:lpstr>
      <vt:lpstr>PowerPoint Presentation</vt:lpstr>
      <vt:lpstr>PowerPoint Presentation</vt:lpstr>
      <vt:lpstr>Obrada signala </vt:lpstr>
      <vt:lpstr>Modeliranje klime </vt:lpstr>
      <vt:lpstr>Modeliranje klime </vt:lpstr>
      <vt:lpstr>Veliki jezični model (engl. LLM) </vt:lpstr>
      <vt:lpstr>Autonomna vozila </vt:lpstr>
      <vt:lpstr>Autonomna vozila </vt:lpstr>
      <vt:lpstr>Autonomna vozila </vt:lpstr>
      <vt:lpstr>Zašto koristiti paralelno računanje? </vt:lpstr>
      <vt:lpstr>PowerPoint Presentation</vt:lpstr>
      <vt:lpstr>Dizajniranje paralelnih programa Automatska naspram ručne paralelizacije</vt:lpstr>
      <vt:lpstr>Dizajniranje paralelnih programa Potpuno automatski</vt:lpstr>
      <vt:lpstr>Dizajniranje paralelnih programa Programer</vt:lpstr>
      <vt:lpstr>Paralelna računala</vt:lpstr>
      <vt:lpstr>2. Flinnova klasična taksonomija</vt:lpstr>
      <vt:lpstr>Multiple Instruction, Multiple Data (MIMD)</vt:lpstr>
      <vt:lpstr>3. Amdahlov zakon</vt:lpstr>
      <vt:lpstr>Reference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Tonći</dc:creator>
  <cp:lastModifiedBy>Tonći</cp:lastModifiedBy>
  <cp:revision>68</cp:revision>
  <dcterms:created xsi:type="dcterms:W3CDTF">2025-01-23T20:12:32Z</dcterms:created>
  <dcterms:modified xsi:type="dcterms:W3CDTF">2025-10-06T20:43:31Z</dcterms:modified>
</cp:coreProperties>
</file>